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of the Alloy Lab Database project — built July to September 2026. Three validated characterisation pipelines for XRD, VSM, and SEM instruments.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fundamental problem: data scattered across instruments, analysis in spreadsheets, connections implicit. Stage 2 solves this by building validated, automated pipelines that store results directly in a structured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pipeline was built on real lab data and validated against a known reference before moving to the next. No shared code between instruments — each has its own failure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XRD pipeline built on xrd_analyzer_dev1.py — fully general, not specific to any phase. Validated against a certified NIST reference material, not just against itself. Results in two tables: xrd_peaks (one row per peak) and xrd_features (one row per sample, ML-ready).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VSM pipeline handles multi-segment files (a single file can contain an MH loop + MT scan + temperature series). The entropy change check is important: a multi-temperature file with full bipolar loops looks structurally similar to a multi-isotherm entropy-change file, but using the wrong math gives silently wrong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three-manufacturer problem was discovered mid-Stage-2 when JEOL files returned no metadata from the Zeiss-only parser. Each manufacturer was investigated directly from real files, not from documentation. The design decision on operator judgment came from a specific real finding: what looked like a segmentation artifact was actually real magnetic domain contrast, confirmed by a second imaging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standalone tools share the same customtkinter framework as the main app, so they can later share the same database connection rather than being disconnected subprocesses. The "operator in the loop" design is a deliberate choice: the tools do not auto-save Otsu or default parameters — they require a human confirmation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two-table XRD schema (long + wide) is the key ML-design decision: xrd_peaks stores everything for audit and custom queries; xrd_features gives a ready-to-use fixed-width row per sample for scikit-learn or PyTorch. Same pattern could be extended to VSM and SEM in Stage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F is particularly interesting: the screening identified P as a vapor-loss risk during iron melting (physical block, not just a caution), and automatically saved the three alternative synthesis routes — mechanical alloying, powder sintering, diffusion bonding — into the synthesis table with the full reasoning as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Wake-on-LAN configured: server boots from cold in ~60 seconds via a magic packet. The ML desktop SSH was set up during this session. path_repair.py was run after migration and reported zero broken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will run on the ML desktop (RTX 5060 Ti 16GB), reading from the server database. The plan is to start with Gaussian Process regression (good for small datasets) and move to neural networks as data grows. The closed loop — prediction → new sample → measurement → back into DB — is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starts with a clean infrastructure: validated data, structured schema, dedicated ML hardware, and a server that stays on and shared. The loop from composition → measurement → ML prediction → new composition is now possible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20"/>
        </a:solidFill>
      </p:bgPr>
    </p:bg>
    <p:spTree>
      <p:nvGrpSpPr>
        <p:cNvPr id="1" name=""/>
        <p:cNvGrpSpPr/>
        <p:nvPr/>
      </p:nvGrpSpPr>
      <p:grpSpPr>
        <a:xfrm>
          <a:off x="0" y="0"/>
          <a:ext cx="0" cy="0"/>
          <a:chOff x="0" y="0"/>
          <a:chExt cx="0" cy="0"/>
        </a:xfrm>
      </p:grpSpPr>
      <p:sp>
        <p:nvSpPr>
          <p:cNvPr id="2" name="Text 0"/>
          <p:cNvSpPr txBox="1"/>
          <p:nvPr/>
        </p:nvSpPr>
        <p:spPr>
          <a:xfrm>
            <a:off x="457200" y="502920"/>
            <a:ext cx="8229600" cy="201168"/>
          </a:xfrm>
          <a:prstGeom prst="rect">
            <a:avLst/>
          </a:prstGeom>
          <a:noFill/>
          <a:ln/>
        </p:spPr>
        <p:txBody>
          <a:bodyPr wrap="square" lIns="0" tIns="0" rIns="0" bIns="0" rtlCol="0" anchor="ctr"/>
          <a:lstStyle/>
          <a:p>
            <a:pPr indent="0" marL="0">
              <a:buNone/>
            </a:pPr>
            <a:r>
              <a:rPr lang="en-US" sz="800" b="1" spc="300" kern="0" dirty="0">
                <a:solidFill>
                  <a:srgbClr val="B56A2A"/>
                </a:solidFill>
                <a:latin typeface="Calibri" pitchFamily="34" charset="0"/>
                <a:ea typeface="Calibri" pitchFamily="34" charset="-122"/>
                <a:cs typeface="Calibri" pitchFamily="34" charset="-120"/>
              </a:rPr>
              <a:t>PERSONAL RESEARCH INFRASTRUCTURE</a:t>
            </a:r>
            <a:endParaRPr lang="en-US" sz="800" dirty="0"/>
          </a:p>
        </p:txBody>
      </p:sp>
      <p:sp>
        <p:nvSpPr>
          <p:cNvPr id="3" name="Text 1"/>
          <p:cNvSpPr txBox="1"/>
          <p:nvPr/>
        </p:nvSpPr>
        <p:spPr>
          <a:xfrm>
            <a:off x="457200" y="777240"/>
            <a:ext cx="8229600" cy="64008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Alloy Lab Database</a:t>
            </a:r>
            <a:endParaRPr lang="en-US" sz="4000" dirty="0"/>
          </a:p>
        </p:txBody>
      </p:sp>
      <p:sp>
        <p:nvSpPr>
          <p:cNvPr id="4" name="Shape 2"/>
          <p:cNvSpPr/>
          <p:nvPr/>
        </p:nvSpPr>
        <p:spPr>
          <a:xfrm>
            <a:off x="457200" y="1463040"/>
            <a:ext cx="1005840" cy="292608"/>
          </a:xfrm>
          <a:prstGeom prst="roundRect">
            <a:avLst>
              <a:gd name="adj" fmla="val 50000"/>
            </a:avLst>
          </a:prstGeom>
          <a:solidFill>
            <a:srgbClr val="B56A2A"/>
          </a:solidFill>
          <a:ln w="12700">
            <a:solidFill>
              <a:srgbClr val="B56A2A"/>
            </a:solidFill>
            <a:prstDash val="solid"/>
          </a:ln>
        </p:spPr>
      </p:sp>
      <p:sp>
        <p:nvSpPr>
          <p:cNvPr id="5" name="Text 3"/>
          <p:cNvSpPr txBox="1"/>
          <p:nvPr/>
        </p:nvSpPr>
        <p:spPr>
          <a:xfrm>
            <a:off x="502920" y="1499616"/>
            <a:ext cx="914400" cy="21945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STAGE 2</a:t>
            </a:r>
            <a:endParaRPr lang="en-US" sz="1100" dirty="0"/>
          </a:p>
        </p:txBody>
      </p:sp>
      <p:sp>
        <p:nvSpPr>
          <p:cNvPr id="6" name="Text 4"/>
          <p:cNvSpPr txBox="1"/>
          <p:nvPr/>
        </p:nvSpPr>
        <p:spPr>
          <a:xfrm>
            <a:off x="457200" y="1874520"/>
            <a:ext cx="8229600" cy="411480"/>
          </a:xfrm>
          <a:prstGeom prst="rect">
            <a:avLst/>
          </a:prstGeom>
          <a:noFill/>
          <a:ln/>
        </p:spPr>
        <p:txBody>
          <a:bodyPr wrap="square" lIns="0" tIns="0" rIns="0" bIns="0" rtlCol="0" anchor="ctr"/>
          <a:lstStyle/>
          <a:p>
            <a:pPr indent="0" marL="0">
              <a:buNone/>
            </a:pPr>
            <a:r>
              <a:rPr lang="en-US" sz="2000" i="1" dirty="0">
                <a:solidFill>
                  <a:srgbClr val="FFFFFF"/>
                </a:solidFill>
                <a:latin typeface="Georgia" pitchFamily="34" charset="0"/>
                <a:ea typeface="Georgia" pitchFamily="34" charset="-122"/>
                <a:cs typeface="Georgia" pitchFamily="34" charset="-120"/>
              </a:rPr>
              <a:t>The Characterisation Layer</a:t>
            </a:r>
            <a:endParaRPr lang="en-US" sz="2000" dirty="0"/>
          </a:p>
        </p:txBody>
      </p:sp>
      <p:sp>
        <p:nvSpPr>
          <p:cNvPr id="7" name="Text 5"/>
          <p:cNvSpPr txBox="1"/>
          <p:nvPr/>
        </p:nvSpPr>
        <p:spPr>
          <a:xfrm>
            <a:off x="457200" y="2395728"/>
            <a:ext cx="8229600" cy="274320"/>
          </a:xfrm>
          <a:prstGeom prst="rect">
            <a:avLst/>
          </a:prstGeom>
          <a:noFill/>
          <a:ln/>
        </p:spPr>
        <p:txBody>
          <a:bodyPr wrap="square" lIns="0" tIns="0" rIns="0" bIns="0" rtlCol="0" anchor="ctr"/>
          <a:lstStyle/>
          <a:p>
            <a:pPr indent="0" marL="0">
              <a:buNone/>
            </a:pPr>
            <a:r>
              <a:rPr lang="en-US" sz="1300" dirty="0">
                <a:solidFill>
                  <a:srgbClr val="AAAAAA"/>
                </a:solidFill>
                <a:latin typeface="Calibri" pitchFamily="34" charset="0"/>
                <a:ea typeface="Calibri" pitchFamily="34" charset="-122"/>
                <a:cs typeface="Calibri" pitchFamily="34" charset="-120"/>
              </a:rPr>
              <a:t>Validated pipelines  ·  Multi-instrument integration  ·  ML-ready schema</a:t>
            </a:r>
            <a:endParaRPr lang="en-US" sz="1300" dirty="0"/>
          </a:p>
        </p:txBody>
      </p:sp>
      <p:sp>
        <p:nvSpPr>
          <p:cNvPr id="8" name="Shape 6"/>
          <p:cNvSpPr/>
          <p:nvPr/>
        </p:nvSpPr>
        <p:spPr>
          <a:xfrm>
            <a:off x="457200" y="2926080"/>
            <a:ext cx="8229600" cy="0"/>
          </a:xfrm>
          <a:prstGeom prst="line">
            <a:avLst/>
          </a:prstGeom>
          <a:noFill/>
          <a:ln w="12700">
            <a:solidFill>
              <a:srgbClr val="3D3D3D"/>
            </a:solidFill>
            <a:prstDash val="solid"/>
          </a:ln>
        </p:spPr>
      </p:sp>
      <p:sp>
        <p:nvSpPr>
          <p:cNvPr id="9" name="Shape 7"/>
          <p:cNvSpPr/>
          <p:nvPr/>
        </p:nvSpPr>
        <p:spPr>
          <a:xfrm>
            <a:off x="457200" y="3063240"/>
            <a:ext cx="1284732" cy="246888"/>
          </a:xfrm>
          <a:prstGeom prst="roundRect">
            <a:avLst>
              <a:gd name="adj" fmla="val 51852"/>
            </a:avLst>
          </a:prstGeom>
          <a:solidFill>
            <a:srgbClr val="F7F5F1"/>
          </a:solidFill>
          <a:ln w="6350">
            <a:solidFill>
              <a:srgbClr val="EAE5DE"/>
            </a:solidFill>
            <a:prstDash val="solid"/>
          </a:ln>
        </p:spPr>
      </p:sp>
      <p:sp>
        <p:nvSpPr>
          <p:cNvPr id="10" name="Text 8"/>
          <p:cNvSpPr txBox="1"/>
          <p:nvPr/>
        </p:nvSpPr>
        <p:spPr>
          <a:xfrm>
            <a:off x="502920" y="3081528"/>
            <a:ext cx="1193292" cy="210312"/>
          </a:xfrm>
          <a:prstGeom prst="rect">
            <a:avLst/>
          </a:prstGeom>
          <a:noFill/>
          <a:ln/>
        </p:spPr>
        <p:txBody>
          <a:bodyPr wrap="square" lIns="0" tIns="0" rIns="0" bIns="0" rtlCol="0" anchor="ctr"/>
          <a:lstStyle/>
          <a:p>
            <a:pPr indent="0" marL="0">
              <a:buNone/>
            </a:pPr>
            <a:r>
              <a:rPr lang="en-US" sz="900" b="1" dirty="0">
                <a:solidFill>
                  <a:srgbClr val="4A4A4E"/>
                </a:solidFill>
                <a:latin typeface="Calibri" pitchFamily="34" charset="0"/>
                <a:ea typeface="Calibri" pitchFamily="34" charset="-122"/>
                <a:cs typeface="Calibri" pitchFamily="34" charset="-120"/>
              </a:rPr>
              <a:t>PostgreSQL 17</a:t>
            </a:r>
            <a:endParaRPr lang="en-US" sz="900" dirty="0"/>
          </a:p>
        </p:txBody>
      </p:sp>
      <p:sp>
        <p:nvSpPr>
          <p:cNvPr id="11" name="Shape 9"/>
          <p:cNvSpPr/>
          <p:nvPr/>
        </p:nvSpPr>
        <p:spPr>
          <a:xfrm>
            <a:off x="1664208" y="3063240"/>
            <a:ext cx="740664" cy="246888"/>
          </a:xfrm>
          <a:prstGeom prst="roundRect">
            <a:avLst>
              <a:gd name="adj" fmla="val 51852"/>
            </a:avLst>
          </a:prstGeom>
          <a:solidFill>
            <a:srgbClr val="F7F5F1"/>
          </a:solidFill>
          <a:ln w="6350">
            <a:solidFill>
              <a:srgbClr val="EAE5DE"/>
            </a:solidFill>
            <a:prstDash val="solid"/>
          </a:ln>
        </p:spPr>
      </p:sp>
      <p:sp>
        <p:nvSpPr>
          <p:cNvPr id="12" name="Text 10"/>
          <p:cNvSpPr txBox="1"/>
          <p:nvPr/>
        </p:nvSpPr>
        <p:spPr>
          <a:xfrm>
            <a:off x="1709928" y="3081528"/>
            <a:ext cx="649224" cy="210312"/>
          </a:xfrm>
          <a:prstGeom prst="rect">
            <a:avLst/>
          </a:prstGeom>
          <a:noFill/>
          <a:ln/>
        </p:spPr>
        <p:txBody>
          <a:bodyPr wrap="square" lIns="0" tIns="0" rIns="0" bIns="0" rtlCol="0" anchor="ctr"/>
          <a:lstStyle/>
          <a:p>
            <a:pPr indent="0" marL="0">
              <a:buNone/>
            </a:pPr>
            <a:r>
              <a:rPr lang="en-US" sz="900" b="1" dirty="0">
                <a:solidFill>
                  <a:srgbClr val="4A4A4E"/>
                </a:solidFill>
                <a:latin typeface="Calibri" pitchFamily="34" charset="0"/>
                <a:ea typeface="Calibri" pitchFamily="34" charset="-122"/>
                <a:cs typeface="Calibri" pitchFamily="34" charset="-120"/>
              </a:rPr>
              <a:t>Docker</a:t>
            </a:r>
            <a:endParaRPr lang="en-US" sz="900" dirty="0"/>
          </a:p>
        </p:txBody>
      </p:sp>
      <p:sp>
        <p:nvSpPr>
          <p:cNvPr id="13" name="Shape 11"/>
          <p:cNvSpPr/>
          <p:nvPr/>
        </p:nvSpPr>
        <p:spPr>
          <a:xfrm>
            <a:off x="2871216" y="3063240"/>
            <a:ext cx="1284732" cy="246888"/>
          </a:xfrm>
          <a:prstGeom prst="roundRect">
            <a:avLst>
              <a:gd name="adj" fmla="val 51852"/>
            </a:avLst>
          </a:prstGeom>
          <a:solidFill>
            <a:srgbClr val="F7F5F1"/>
          </a:solidFill>
          <a:ln w="6350">
            <a:solidFill>
              <a:srgbClr val="EAE5DE"/>
            </a:solidFill>
            <a:prstDash val="solid"/>
          </a:ln>
        </p:spPr>
      </p:sp>
      <p:sp>
        <p:nvSpPr>
          <p:cNvPr id="14" name="Text 12"/>
          <p:cNvSpPr txBox="1"/>
          <p:nvPr/>
        </p:nvSpPr>
        <p:spPr>
          <a:xfrm>
            <a:off x="2916936" y="3081528"/>
            <a:ext cx="1193292" cy="210312"/>
          </a:xfrm>
          <a:prstGeom prst="rect">
            <a:avLst/>
          </a:prstGeom>
          <a:noFill/>
          <a:ln/>
        </p:spPr>
        <p:txBody>
          <a:bodyPr wrap="square" lIns="0" tIns="0" rIns="0" bIns="0" rtlCol="0" anchor="ctr"/>
          <a:lstStyle/>
          <a:p>
            <a:pPr indent="0" marL="0">
              <a:buNone/>
            </a:pPr>
            <a:r>
              <a:rPr lang="en-US" sz="900" b="1" dirty="0">
                <a:solidFill>
                  <a:srgbClr val="4A4A4E"/>
                </a:solidFill>
                <a:latin typeface="Calibri" pitchFamily="34" charset="0"/>
                <a:ea typeface="Calibri" pitchFamily="34" charset="-122"/>
                <a:cs typeface="Calibri" pitchFamily="34" charset="-120"/>
              </a:rPr>
              <a:t>customtkinter</a:t>
            </a:r>
            <a:endParaRPr lang="en-US" sz="900" dirty="0"/>
          </a:p>
        </p:txBody>
      </p:sp>
      <p:sp>
        <p:nvSpPr>
          <p:cNvPr id="15" name="Shape 13"/>
          <p:cNvSpPr/>
          <p:nvPr/>
        </p:nvSpPr>
        <p:spPr>
          <a:xfrm>
            <a:off x="4078224" y="3063240"/>
            <a:ext cx="740664" cy="246888"/>
          </a:xfrm>
          <a:prstGeom prst="roundRect">
            <a:avLst>
              <a:gd name="adj" fmla="val 51852"/>
            </a:avLst>
          </a:prstGeom>
          <a:solidFill>
            <a:srgbClr val="F7F5F1"/>
          </a:solidFill>
          <a:ln w="6350">
            <a:solidFill>
              <a:srgbClr val="EAE5DE"/>
            </a:solidFill>
            <a:prstDash val="solid"/>
          </a:ln>
        </p:spPr>
      </p:sp>
      <p:sp>
        <p:nvSpPr>
          <p:cNvPr id="16" name="Text 14"/>
          <p:cNvSpPr txBox="1"/>
          <p:nvPr/>
        </p:nvSpPr>
        <p:spPr>
          <a:xfrm>
            <a:off x="4123944" y="3081528"/>
            <a:ext cx="649224" cy="210312"/>
          </a:xfrm>
          <a:prstGeom prst="rect">
            <a:avLst/>
          </a:prstGeom>
          <a:noFill/>
          <a:ln/>
        </p:spPr>
        <p:txBody>
          <a:bodyPr wrap="square" lIns="0" tIns="0" rIns="0" bIns="0" rtlCol="0" anchor="ctr"/>
          <a:lstStyle/>
          <a:p>
            <a:pPr indent="0" marL="0">
              <a:buNone/>
            </a:pPr>
            <a:r>
              <a:rPr lang="en-US" sz="900" b="1" dirty="0">
                <a:solidFill>
                  <a:srgbClr val="4A4A4E"/>
                </a:solidFill>
                <a:latin typeface="Calibri" pitchFamily="34" charset="0"/>
                <a:ea typeface="Calibri" pitchFamily="34" charset="-122"/>
                <a:cs typeface="Calibri" pitchFamily="34" charset="-120"/>
              </a:rPr>
              <a:t>OpenCV</a:t>
            </a:r>
            <a:endParaRPr lang="en-US" sz="900" dirty="0"/>
          </a:p>
        </p:txBody>
      </p:sp>
      <p:sp>
        <p:nvSpPr>
          <p:cNvPr id="17" name="Shape 15"/>
          <p:cNvSpPr/>
          <p:nvPr/>
        </p:nvSpPr>
        <p:spPr>
          <a:xfrm>
            <a:off x="5285232" y="3063240"/>
            <a:ext cx="662940" cy="246888"/>
          </a:xfrm>
          <a:prstGeom prst="roundRect">
            <a:avLst>
              <a:gd name="adj" fmla="val 51852"/>
            </a:avLst>
          </a:prstGeom>
          <a:solidFill>
            <a:srgbClr val="F7F5F1"/>
          </a:solidFill>
          <a:ln w="6350">
            <a:solidFill>
              <a:srgbClr val="EAE5DE"/>
            </a:solidFill>
            <a:prstDash val="solid"/>
          </a:ln>
        </p:spPr>
      </p:sp>
      <p:sp>
        <p:nvSpPr>
          <p:cNvPr id="18" name="Text 16"/>
          <p:cNvSpPr txBox="1"/>
          <p:nvPr/>
        </p:nvSpPr>
        <p:spPr>
          <a:xfrm>
            <a:off x="5330952" y="3081528"/>
            <a:ext cx="571500" cy="210312"/>
          </a:xfrm>
          <a:prstGeom prst="rect">
            <a:avLst/>
          </a:prstGeom>
          <a:noFill/>
          <a:ln/>
        </p:spPr>
        <p:txBody>
          <a:bodyPr wrap="square" lIns="0" tIns="0" rIns="0" bIns="0" rtlCol="0" anchor="ctr"/>
          <a:lstStyle/>
          <a:p>
            <a:pPr indent="0" marL="0">
              <a:buNone/>
            </a:pPr>
            <a:r>
              <a:rPr lang="en-US" sz="900" b="1" dirty="0">
                <a:solidFill>
                  <a:srgbClr val="4A4A4E"/>
                </a:solidFill>
                <a:latin typeface="Calibri" pitchFamily="34" charset="0"/>
                <a:ea typeface="Calibri" pitchFamily="34" charset="-122"/>
                <a:cs typeface="Calibri" pitchFamily="34" charset="-120"/>
              </a:rPr>
              <a:t>scipy</a:t>
            </a:r>
            <a:endParaRPr lang="en-US" sz="900" dirty="0"/>
          </a:p>
        </p:txBody>
      </p:sp>
      <p:sp>
        <p:nvSpPr>
          <p:cNvPr id="19" name="Shape 17"/>
          <p:cNvSpPr/>
          <p:nvPr/>
        </p:nvSpPr>
        <p:spPr>
          <a:xfrm>
            <a:off x="6492240" y="3063240"/>
            <a:ext cx="662940" cy="246888"/>
          </a:xfrm>
          <a:prstGeom prst="roundRect">
            <a:avLst>
              <a:gd name="adj" fmla="val 51852"/>
            </a:avLst>
          </a:prstGeom>
          <a:solidFill>
            <a:srgbClr val="F7F5F1"/>
          </a:solidFill>
          <a:ln w="6350">
            <a:solidFill>
              <a:srgbClr val="EAE5DE"/>
            </a:solidFill>
            <a:prstDash val="solid"/>
          </a:ln>
        </p:spPr>
      </p:sp>
      <p:sp>
        <p:nvSpPr>
          <p:cNvPr id="20" name="Text 18"/>
          <p:cNvSpPr txBox="1"/>
          <p:nvPr/>
        </p:nvSpPr>
        <p:spPr>
          <a:xfrm>
            <a:off x="6537960" y="3081528"/>
            <a:ext cx="571500" cy="210312"/>
          </a:xfrm>
          <a:prstGeom prst="rect">
            <a:avLst/>
          </a:prstGeom>
          <a:noFill/>
          <a:ln/>
        </p:spPr>
        <p:txBody>
          <a:bodyPr wrap="square" lIns="0" tIns="0" rIns="0" bIns="0" rtlCol="0" anchor="ctr"/>
          <a:lstStyle/>
          <a:p>
            <a:pPr indent="0" marL="0">
              <a:buNone/>
            </a:pPr>
            <a:r>
              <a:rPr lang="en-US" sz="900" b="1" dirty="0">
                <a:solidFill>
                  <a:srgbClr val="4A4A4E"/>
                </a:solidFill>
                <a:latin typeface="Calibri" pitchFamily="34" charset="0"/>
                <a:ea typeface="Calibri" pitchFamily="34" charset="-122"/>
                <a:cs typeface="Calibri" pitchFamily="34" charset="-120"/>
              </a:rPr>
              <a:t>numpy</a:t>
            </a:r>
            <a:endParaRPr lang="en-US" sz="900" dirty="0"/>
          </a:p>
        </p:txBody>
      </p:sp>
      <p:sp>
        <p:nvSpPr>
          <p:cNvPr id="21" name="Shape 19"/>
          <p:cNvSpPr/>
          <p:nvPr/>
        </p:nvSpPr>
        <p:spPr>
          <a:xfrm>
            <a:off x="7699248" y="3063240"/>
            <a:ext cx="1051560" cy="246888"/>
          </a:xfrm>
          <a:prstGeom prst="roundRect">
            <a:avLst>
              <a:gd name="adj" fmla="val 51852"/>
            </a:avLst>
          </a:prstGeom>
          <a:solidFill>
            <a:srgbClr val="F7F5F1"/>
          </a:solidFill>
          <a:ln w="6350">
            <a:solidFill>
              <a:srgbClr val="EAE5DE"/>
            </a:solidFill>
            <a:prstDash val="solid"/>
          </a:ln>
        </p:spPr>
      </p:sp>
      <p:sp>
        <p:nvSpPr>
          <p:cNvPr id="22" name="Text 20"/>
          <p:cNvSpPr txBox="1"/>
          <p:nvPr/>
        </p:nvSpPr>
        <p:spPr>
          <a:xfrm>
            <a:off x="7744968" y="3081528"/>
            <a:ext cx="960120" cy="210312"/>
          </a:xfrm>
          <a:prstGeom prst="rect">
            <a:avLst/>
          </a:prstGeom>
          <a:noFill/>
          <a:ln/>
        </p:spPr>
        <p:txBody>
          <a:bodyPr wrap="square" lIns="0" tIns="0" rIns="0" bIns="0" rtlCol="0" anchor="ctr"/>
          <a:lstStyle/>
          <a:p>
            <a:pPr indent="0" marL="0">
              <a:buNone/>
            </a:pPr>
            <a:r>
              <a:rPr lang="en-US" sz="900" b="1" dirty="0">
                <a:solidFill>
                  <a:srgbClr val="4A4A4E"/>
                </a:solidFill>
                <a:latin typeface="Calibri" pitchFamily="34" charset="0"/>
                <a:ea typeface="Calibri" pitchFamily="34" charset="-122"/>
                <a:cs typeface="Calibri" pitchFamily="34" charset="-120"/>
              </a:rPr>
              <a:t>matplotlib</a:t>
            </a:r>
            <a:endParaRPr lang="en-US" sz="900" dirty="0"/>
          </a:p>
        </p:txBody>
      </p:sp>
      <p:sp>
        <p:nvSpPr>
          <p:cNvPr id="23" name="Text 21"/>
          <p:cNvSpPr txBox="1"/>
          <p:nvPr/>
        </p:nvSpPr>
        <p:spPr>
          <a:xfrm>
            <a:off x="457200" y="4663440"/>
            <a:ext cx="8229600" cy="22860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July – September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01168"/>
          </a:xfrm>
          <a:prstGeom prst="rect">
            <a:avLst/>
          </a:prstGeom>
          <a:noFill/>
          <a:ln/>
        </p:spPr>
        <p:txBody>
          <a:bodyPr wrap="square" lIns="0" tIns="0" rIns="0" bIns="0" rtlCol="0" anchor="ctr"/>
          <a:lstStyle/>
          <a:p>
            <a:pPr indent="0" marL="0">
              <a:buNone/>
            </a:pPr>
            <a:r>
              <a:rPr lang="en-US" sz="800" b="1" spc="300" kern="0" dirty="0">
                <a:solidFill>
                  <a:srgbClr val="B56A2A"/>
                </a:solidFill>
                <a:latin typeface="Calibri" pitchFamily="34" charset="0"/>
                <a:ea typeface="Calibri" pitchFamily="34" charset="-122"/>
                <a:cs typeface="Calibri" pitchFamily="34" charset="-120"/>
              </a:rPr>
              <a:t>THE PROBLEM</a:t>
            </a:r>
            <a:endParaRPr lang="en-US" sz="800" dirty="0"/>
          </a:p>
        </p:txBody>
      </p:sp>
      <p:sp>
        <p:nvSpPr>
          <p:cNvPr id="3" name="Text 1"/>
          <p:cNvSpPr txBox="1"/>
          <p:nvPr/>
        </p:nvSpPr>
        <p:spPr>
          <a:xfrm>
            <a:off x="457200" y="594360"/>
            <a:ext cx="8229600" cy="594360"/>
          </a:xfrm>
          <a:prstGeom prst="rect">
            <a:avLst/>
          </a:prstGeom>
          <a:noFill/>
          <a:ln/>
        </p:spPr>
        <p:txBody>
          <a:bodyPr wrap="square" lIns="0" tIns="0" rIns="0" bIns="0" rtlCol="0" anchor="ctr"/>
          <a:lstStyle/>
          <a:p>
            <a:pPr indent="0" marL="0">
              <a:buNone/>
            </a:pPr>
            <a:r>
              <a:rPr lang="en-US" sz="3000" b="1" dirty="0">
                <a:solidFill>
                  <a:srgbClr val="1C1C1E"/>
                </a:solidFill>
                <a:latin typeface="Georgia" pitchFamily="34" charset="0"/>
                <a:ea typeface="Georgia" pitchFamily="34" charset="-122"/>
                <a:cs typeface="Georgia" pitchFamily="34" charset="-120"/>
              </a:rPr>
              <a:t>Experimental data is scattered by default</a:t>
            </a:r>
            <a:endParaRPr lang="en-US" sz="3000" dirty="0"/>
          </a:p>
        </p:txBody>
      </p:sp>
      <p:sp>
        <p:nvSpPr>
          <p:cNvPr id="4" name="Shape 2"/>
          <p:cNvSpPr/>
          <p:nvPr/>
        </p:nvSpPr>
        <p:spPr>
          <a:xfrm>
            <a:off x="457200" y="1417320"/>
            <a:ext cx="2651760" cy="2560320"/>
          </a:xfrm>
          <a:prstGeom prst="roundRect">
            <a:avLst>
              <a:gd name="adj" fmla="val 6429"/>
            </a:avLst>
          </a:prstGeom>
          <a:solidFill>
            <a:srgbClr val="F7F5F1"/>
          </a:solidFill>
          <a:ln w="6350">
            <a:solidFill>
              <a:srgbClr val="EAE5DE"/>
            </a:solidFill>
            <a:prstDash val="solid"/>
          </a:ln>
        </p:spPr>
      </p:sp>
      <p:sp>
        <p:nvSpPr>
          <p:cNvPr id="5" name="Text 3"/>
          <p:cNvSpPr txBox="1"/>
          <p:nvPr/>
        </p:nvSpPr>
        <p:spPr>
          <a:xfrm>
            <a:off x="640080" y="1600200"/>
            <a:ext cx="457200" cy="45720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6" name="Text 4"/>
          <p:cNvSpPr txBox="1"/>
          <p:nvPr/>
        </p:nvSpPr>
        <p:spPr>
          <a:xfrm>
            <a:off x="640080" y="2148840"/>
            <a:ext cx="2286000" cy="274320"/>
          </a:xfrm>
          <a:prstGeom prst="rect">
            <a:avLst/>
          </a:prstGeom>
          <a:noFill/>
          <a:ln/>
        </p:spPr>
        <p:txBody>
          <a:bodyPr wrap="square" lIns="0" tIns="0" rIns="0" bIns="0" rtlCol="0" anchor="ctr"/>
          <a:lstStyle/>
          <a:p>
            <a:pPr indent="0" marL="0">
              <a:buNone/>
            </a:pPr>
            <a:r>
              <a:rPr lang="en-US" sz="1400" b="1" dirty="0">
                <a:solidFill>
                  <a:srgbClr val="1C1C1E"/>
                </a:solidFill>
                <a:latin typeface="Calibri" pitchFamily="34" charset="0"/>
                <a:ea typeface="Calibri" pitchFamily="34" charset="-122"/>
                <a:cs typeface="Calibri" pitchFamily="34" charset="-120"/>
              </a:rPr>
              <a:t>Instrument files</a:t>
            </a:r>
            <a:endParaRPr lang="en-US" sz="1400" dirty="0"/>
          </a:p>
        </p:txBody>
      </p:sp>
      <p:sp>
        <p:nvSpPr>
          <p:cNvPr id="7" name="Text 5"/>
          <p:cNvSpPr txBox="1"/>
          <p:nvPr/>
        </p:nvSpPr>
        <p:spPr>
          <a:xfrm>
            <a:off x="640080" y="2487168"/>
            <a:ext cx="2286000" cy="128016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XRD patterns, VSM loops, SEM images — on instrument computers, shared drives, personal laptops.</a:t>
            </a:r>
            <a:endParaRPr lang="en-US" sz="1100" dirty="0"/>
          </a:p>
        </p:txBody>
      </p:sp>
      <p:sp>
        <p:nvSpPr>
          <p:cNvPr id="8" name="Shape 6"/>
          <p:cNvSpPr/>
          <p:nvPr/>
        </p:nvSpPr>
        <p:spPr>
          <a:xfrm>
            <a:off x="3337560" y="1417320"/>
            <a:ext cx="2651760" cy="2560320"/>
          </a:xfrm>
          <a:prstGeom prst="roundRect">
            <a:avLst>
              <a:gd name="adj" fmla="val 6429"/>
            </a:avLst>
          </a:prstGeom>
          <a:solidFill>
            <a:srgbClr val="F7F5F1"/>
          </a:solidFill>
          <a:ln w="6350">
            <a:solidFill>
              <a:srgbClr val="EAE5DE"/>
            </a:solidFill>
            <a:prstDash val="solid"/>
          </a:ln>
        </p:spPr>
      </p:sp>
      <p:sp>
        <p:nvSpPr>
          <p:cNvPr id="9" name="Text 7"/>
          <p:cNvSpPr txBox="1"/>
          <p:nvPr/>
        </p:nvSpPr>
        <p:spPr>
          <a:xfrm>
            <a:off x="3520440" y="1600200"/>
            <a:ext cx="457200" cy="45720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0" name="Text 8"/>
          <p:cNvSpPr txBox="1"/>
          <p:nvPr/>
        </p:nvSpPr>
        <p:spPr>
          <a:xfrm>
            <a:off x="3520440" y="2148840"/>
            <a:ext cx="2286000" cy="274320"/>
          </a:xfrm>
          <a:prstGeom prst="rect">
            <a:avLst/>
          </a:prstGeom>
          <a:noFill/>
          <a:ln/>
        </p:spPr>
        <p:txBody>
          <a:bodyPr wrap="square" lIns="0" tIns="0" rIns="0" bIns="0" rtlCol="0" anchor="ctr"/>
          <a:lstStyle/>
          <a:p>
            <a:pPr indent="0" marL="0">
              <a:buNone/>
            </a:pPr>
            <a:r>
              <a:rPr lang="en-US" sz="1400" b="1" dirty="0">
                <a:solidFill>
                  <a:srgbClr val="1C1C1E"/>
                </a:solidFill>
                <a:latin typeface="Calibri" pitchFamily="34" charset="0"/>
                <a:ea typeface="Calibri" pitchFamily="34" charset="-122"/>
                <a:cs typeface="Calibri" pitchFamily="34" charset="-120"/>
              </a:rPr>
              <a:t>Spreadsheet analysis</a:t>
            </a:r>
            <a:endParaRPr lang="en-US" sz="1400" dirty="0"/>
          </a:p>
        </p:txBody>
      </p:sp>
      <p:sp>
        <p:nvSpPr>
          <p:cNvPr id="11" name="Text 9"/>
          <p:cNvSpPr txBox="1"/>
          <p:nvPr/>
        </p:nvSpPr>
        <p:spPr>
          <a:xfrm>
            <a:off x="3520440" y="2487168"/>
            <a:ext cx="2286000" cy="128016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Results manually copied into Origin projects, Excel files, or text documents after each measurement.</a:t>
            </a:r>
            <a:endParaRPr lang="en-US" sz="1100" dirty="0"/>
          </a:p>
        </p:txBody>
      </p:sp>
      <p:sp>
        <p:nvSpPr>
          <p:cNvPr id="12" name="Shape 10"/>
          <p:cNvSpPr/>
          <p:nvPr/>
        </p:nvSpPr>
        <p:spPr>
          <a:xfrm>
            <a:off x="6217920" y="1417320"/>
            <a:ext cx="2651760" cy="2560320"/>
          </a:xfrm>
          <a:prstGeom prst="roundRect">
            <a:avLst>
              <a:gd name="adj" fmla="val 6429"/>
            </a:avLst>
          </a:prstGeom>
          <a:solidFill>
            <a:srgbClr val="F7F5F1"/>
          </a:solidFill>
          <a:ln w="6350">
            <a:solidFill>
              <a:srgbClr val="EAE5DE"/>
            </a:solidFill>
            <a:prstDash val="solid"/>
          </a:ln>
        </p:spPr>
      </p:sp>
      <p:sp>
        <p:nvSpPr>
          <p:cNvPr id="13" name="Text 11"/>
          <p:cNvSpPr txBox="1"/>
          <p:nvPr/>
        </p:nvSpPr>
        <p:spPr>
          <a:xfrm>
            <a:off x="6400800" y="1600200"/>
            <a:ext cx="457200" cy="45720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4" name="Text 12"/>
          <p:cNvSpPr txBox="1"/>
          <p:nvPr/>
        </p:nvSpPr>
        <p:spPr>
          <a:xfrm>
            <a:off x="6400800" y="2148840"/>
            <a:ext cx="2286000" cy="274320"/>
          </a:xfrm>
          <a:prstGeom prst="rect">
            <a:avLst/>
          </a:prstGeom>
          <a:noFill/>
          <a:ln/>
        </p:spPr>
        <p:txBody>
          <a:bodyPr wrap="square" lIns="0" tIns="0" rIns="0" bIns="0" rtlCol="0" anchor="ctr"/>
          <a:lstStyle/>
          <a:p>
            <a:pPr indent="0" marL="0">
              <a:buNone/>
            </a:pPr>
            <a:r>
              <a:rPr lang="en-US" sz="1400" b="1" dirty="0">
                <a:solidFill>
                  <a:srgbClr val="1C1C1E"/>
                </a:solidFill>
                <a:latin typeface="Calibri" pitchFamily="34" charset="0"/>
                <a:ea typeface="Calibri" pitchFamily="34" charset="-122"/>
                <a:cs typeface="Calibri" pitchFamily="34" charset="-120"/>
              </a:rPr>
              <a:t>Implicit connections</a:t>
            </a:r>
            <a:endParaRPr lang="en-US" sz="1400" dirty="0"/>
          </a:p>
        </p:txBody>
      </p:sp>
      <p:sp>
        <p:nvSpPr>
          <p:cNvPr id="15" name="Text 13"/>
          <p:cNvSpPr txBox="1"/>
          <p:nvPr/>
        </p:nvSpPr>
        <p:spPr>
          <a:xfrm>
            <a:off x="6400800" y="2487168"/>
            <a:ext cx="2286000" cy="128016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"Which XRD pattern belongs to which sample?" lives in someone's head — or a sticky note.</a:t>
            </a:r>
            <a:endParaRPr lang="en-US" sz="1100" dirty="0"/>
          </a:p>
        </p:txBody>
      </p:sp>
      <p:sp>
        <p:nvSpPr>
          <p:cNvPr id="16" name="Shape 14"/>
          <p:cNvSpPr/>
          <p:nvPr/>
        </p:nvSpPr>
        <p:spPr>
          <a:xfrm>
            <a:off x="457200" y="4160520"/>
            <a:ext cx="8229600" cy="685800"/>
          </a:xfrm>
          <a:prstGeom prst="roundRect">
            <a:avLst>
              <a:gd name="adj" fmla="val 26667"/>
            </a:avLst>
          </a:prstGeom>
          <a:solidFill>
            <a:srgbClr val="F2EEE9"/>
          </a:solidFill>
          <a:ln w="6350">
            <a:solidFill>
              <a:srgbClr val="DDD6CD"/>
            </a:solidFill>
            <a:prstDash val="solid"/>
          </a:ln>
        </p:spPr>
      </p:sp>
      <p:sp>
        <p:nvSpPr>
          <p:cNvPr id="17" name="Text 15"/>
          <p:cNvSpPr txBox="1"/>
          <p:nvPr/>
        </p:nvSpPr>
        <p:spPr>
          <a:xfrm>
            <a:off x="685800" y="4279392"/>
            <a:ext cx="7772400" cy="457200"/>
          </a:xfrm>
          <a:prstGeom prst="rect">
            <a:avLst/>
          </a:prstGeom>
          <a:noFill/>
          <a:ln/>
        </p:spPr>
        <p:txBody>
          <a:bodyPr wrap="square" lIns="0" tIns="0" rIns="0" bIns="0" rtlCol="0" anchor="ctr"/>
          <a:lstStyle/>
          <a:p>
            <a:pPr indent="0" marL="0">
              <a:buNone/>
            </a:pPr>
            <a:r>
              <a:rPr lang="en-US" sz="1100" i="1" dirty="0">
                <a:solidFill>
                  <a:srgbClr val="2B2B2D"/>
                </a:solidFill>
                <a:latin typeface="Georgia" pitchFamily="34" charset="0"/>
                <a:ea typeface="Georgia" pitchFamily="34" charset="-122"/>
                <a:cs typeface="Georgia" pitchFamily="34" charset="-120"/>
              </a:rPr>
              <a:t>"Stage 1 built the data-capture layer. Stage 2 adds the analytical layer — validated characterisation pipelines, stored in a schema designed for machine learning."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1E20"/>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01168"/>
          </a:xfrm>
          <a:prstGeom prst="rect">
            <a:avLst/>
          </a:prstGeom>
          <a:noFill/>
          <a:ln/>
        </p:spPr>
        <p:txBody>
          <a:bodyPr wrap="square" lIns="0" tIns="0" rIns="0" bIns="0" rtlCol="0" anchor="ctr"/>
          <a:lstStyle/>
          <a:p>
            <a:pPr indent="0" marL="0">
              <a:buNone/>
            </a:pPr>
            <a:r>
              <a:rPr lang="en-US" sz="800" b="1" spc="300" kern="0" dirty="0">
                <a:solidFill>
                  <a:srgbClr val="B56A2A"/>
                </a:solidFill>
                <a:latin typeface="Calibri" pitchFamily="34" charset="0"/>
                <a:ea typeface="Calibri" pitchFamily="34" charset="-122"/>
                <a:cs typeface="Calibri" pitchFamily="34" charset="-120"/>
              </a:rPr>
              <a:t>STAGE 2 AT A GLANCE</a:t>
            </a:r>
            <a:endParaRPr lang="en-US" sz="800" dirty="0"/>
          </a:p>
        </p:txBody>
      </p:sp>
      <p:sp>
        <p:nvSpPr>
          <p:cNvPr id="3" name="Text 1"/>
          <p:cNvSpPr txBox="1"/>
          <p:nvPr/>
        </p:nvSpPr>
        <p:spPr>
          <a:xfrm>
            <a:off x="457200" y="59436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Three instruments. One validated pipeline each.</a:t>
            </a:r>
            <a:endParaRPr lang="en-US" sz="2800" dirty="0"/>
          </a:p>
        </p:txBody>
      </p:sp>
      <p:sp>
        <p:nvSpPr>
          <p:cNvPr id="4" name="Text 2"/>
          <p:cNvSpPr txBox="1"/>
          <p:nvPr/>
        </p:nvSpPr>
        <p:spPr>
          <a:xfrm>
            <a:off x="457200" y="1417320"/>
            <a:ext cx="1920240" cy="502920"/>
          </a:xfrm>
          <a:prstGeom prst="rect">
            <a:avLst/>
          </a:prstGeom>
          <a:noFill/>
          <a:ln/>
        </p:spPr>
        <p:txBody>
          <a:bodyPr wrap="square" lIns="0" tIns="0" rIns="0" bIns="0" rtlCol="0" anchor="ctr"/>
          <a:lstStyle/>
          <a:p>
            <a:pPr indent="0" marL="0">
              <a:buNone/>
            </a:pPr>
            <a:r>
              <a:rPr lang="en-US" sz="3400" b="1" dirty="0">
                <a:solidFill>
                  <a:srgbClr val="D78C4A"/>
                </a:solidFill>
                <a:latin typeface="Georgia" pitchFamily="34" charset="0"/>
                <a:ea typeface="Georgia" pitchFamily="34" charset="-122"/>
                <a:cs typeface="Georgia" pitchFamily="34" charset="-120"/>
              </a:rPr>
              <a:t>3</a:t>
            </a:r>
            <a:endParaRPr lang="en-US" sz="3400" dirty="0"/>
          </a:p>
        </p:txBody>
      </p:sp>
      <p:sp>
        <p:nvSpPr>
          <p:cNvPr id="5" name="Text 3"/>
          <p:cNvSpPr txBox="1"/>
          <p:nvPr/>
        </p:nvSpPr>
        <p:spPr>
          <a:xfrm>
            <a:off x="457200" y="1892808"/>
            <a:ext cx="1920240" cy="256032"/>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characterisation pipelines</a:t>
            </a:r>
            <a:endParaRPr lang="en-US" sz="1000" dirty="0"/>
          </a:p>
        </p:txBody>
      </p:sp>
      <p:sp>
        <p:nvSpPr>
          <p:cNvPr id="6" name="Text 4"/>
          <p:cNvSpPr txBox="1"/>
          <p:nvPr/>
        </p:nvSpPr>
        <p:spPr>
          <a:xfrm>
            <a:off x="2651760" y="1417320"/>
            <a:ext cx="1920240" cy="502920"/>
          </a:xfrm>
          <a:prstGeom prst="rect">
            <a:avLst/>
          </a:prstGeom>
          <a:noFill/>
          <a:ln/>
        </p:spPr>
        <p:txBody>
          <a:bodyPr wrap="square" lIns="0" tIns="0" rIns="0" bIns="0" rtlCol="0" anchor="ctr"/>
          <a:lstStyle/>
          <a:p>
            <a:pPr indent="0" marL="0">
              <a:buNone/>
            </a:pPr>
            <a:r>
              <a:rPr lang="en-US" sz="3400" b="1" dirty="0">
                <a:solidFill>
                  <a:srgbClr val="D78C4A"/>
                </a:solidFill>
                <a:latin typeface="Georgia" pitchFamily="34" charset="0"/>
                <a:ea typeface="Georgia" pitchFamily="34" charset="-122"/>
                <a:cs typeface="Georgia" pitchFamily="34" charset="-120"/>
              </a:rPr>
              <a:t>16</a:t>
            </a:r>
            <a:endParaRPr lang="en-US" sz="3400" dirty="0"/>
          </a:p>
        </p:txBody>
      </p:sp>
      <p:sp>
        <p:nvSpPr>
          <p:cNvPr id="7" name="Text 5"/>
          <p:cNvSpPr txBox="1"/>
          <p:nvPr/>
        </p:nvSpPr>
        <p:spPr>
          <a:xfrm>
            <a:off x="2651760" y="1892808"/>
            <a:ext cx="1920240" cy="256032"/>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database tables · fully populated</a:t>
            </a:r>
            <a:endParaRPr lang="en-US" sz="1000" dirty="0"/>
          </a:p>
        </p:txBody>
      </p:sp>
      <p:sp>
        <p:nvSpPr>
          <p:cNvPr id="8" name="Text 6"/>
          <p:cNvSpPr txBox="1"/>
          <p:nvPr/>
        </p:nvSpPr>
        <p:spPr>
          <a:xfrm>
            <a:off x="4846320" y="1417320"/>
            <a:ext cx="1920240" cy="502920"/>
          </a:xfrm>
          <a:prstGeom prst="rect">
            <a:avLst/>
          </a:prstGeom>
          <a:noFill/>
          <a:ln/>
        </p:spPr>
        <p:txBody>
          <a:bodyPr wrap="square" lIns="0" tIns="0" rIns="0" bIns="0" rtlCol="0" anchor="ctr"/>
          <a:lstStyle/>
          <a:p>
            <a:pPr indent="0" marL="0">
              <a:buNone/>
            </a:pPr>
            <a:r>
              <a:rPr lang="en-US" sz="3400" b="1" dirty="0">
                <a:solidFill>
                  <a:srgbClr val="D78C4A"/>
                </a:solidFill>
                <a:latin typeface="Georgia" pitchFamily="34" charset="0"/>
                <a:ea typeface="Georgia" pitchFamily="34" charset="-122"/>
                <a:cs typeface="Georgia" pitchFamily="34" charset="-120"/>
              </a:rPr>
              <a:t>170</a:t>
            </a:r>
            <a:endParaRPr lang="en-US" sz="3400" dirty="0"/>
          </a:p>
        </p:txBody>
      </p:sp>
      <p:sp>
        <p:nvSpPr>
          <p:cNvPr id="9" name="Text 7"/>
          <p:cNvSpPr txBox="1"/>
          <p:nvPr/>
        </p:nvSpPr>
        <p:spPr>
          <a:xfrm>
            <a:off x="4846320" y="1892808"/>
            <a:ext cx="1920240" cy="256032"/>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XRD peaks · fitted &amp; validated</a:t>
            </a:r>
            <a:endParaRPr lang="en-US" sz="1000" dirty="0"/>
          </a:p>
        </p:txBody>
      </p:sp>
      <p:sp>
        <p:nvSpPr>
          <p:cNvPr id="10" name="Text 8"/>
          <p:cNvSpPr txBox="1"/>
          <p:nvPr/>
        </p:nvSpPr>
        <p:spPr>
          <a:xfrm>
            <a:off x="7040880" y="1417320"/>
            <a:ext cx="1920240" cy="502920"/>
          </a:xfrm>
          <a:prstGeom prst="rect">
            <a:avLst/>
          </a:prstGeom>
          <a:noFill/>
          <a:ln/>
        </p:spPr>
        <p:txBody>
          <a:bodyPr wrap="square" lIns="0" tIns="0" rIns="0" bIns="0" rtlCol="0" anchor="ctr"/>
          <a:lstStyle/>
          <a:p>
            <a:pPr indent="0" marL="0">
              <a:buNone/>
            </a:pPr>
            <a:r>
              <a:rPr lang="en-US" sz="3400" b="1" dirty="0">
                <a:solidFill>
                  <a:srgbClr val="D78C4A"/>
                </a:solidFill>
                <a:latin typeface="Georgia" pitchFamily="34" charset="0"/>
                <a:ea typeface="Georgia" pitchFamily="34" charset="-122"/>
                <a:cs typeface="Georgia" pitchFamily="34" charset="-120"/>
              </a:rPr>
              <a:t>690</a:t>
            </a:r>
            <a:endParaRPr lang="en-US" sz="3400" dirty="0"/>
          </a:p>
        </p:txBody>
      </p:sp>
      <p:sp>
        <p:nvSpPr>
          <p:cNvPr id="11" name="Text 9"/>
          <p:cNvSpPr txBox="1"/>
          <p:nvPr/>
        </p:nvSpPr>
        <p:spPr>
          <a:xfrm>
            <a:off x="7040880" y="1892808"/>
            <a:ext cx="1920240" cy="256032"/>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SEM images imported</a:t>
            </a:r>
            <a:endParaRPr lang="en-US" sz="1000" dirty="0"/>
          </a:p>
        </p:txBody>
      </p:sp>
      <p:sp>
        <p:nvSpPr>
          <p:cNvPr id="12" name="Shape 10"/>
          <p:cNvSpPr/>
          <p:nvPr/>
        </p:nvSpPr>
        <p:spPr>
          <a:xfrm>
            <a:off x="457200" y="2423160"/>
            <a:ext cx="8229600" cy="0"/>
          </a:xfrm>
          <a:prstGeom prst="line">
            <a:avLst/>
          </a:prstGeom>
          <a:noFill/>
          <a:ln w="12700">
            <a:solidFill>
              <a:srgbClr val="3D3D3D"/>
            </a:solidFill>
            <a:prstDash val="solid"/>
          </a:ln>
        </p:spPr>
      </p:sp>
      <p:sp>
        <p:nvSpPr>
          <p:cNvPr id="13" name="Shape 11"/>
          <p:cNvSpPr/>
          <p:nvPr/>
        </p:nvSpPr>
        <p:spPr>
          <a:xfrm>
            <a:off x="457200" y="2651760"/>
            <a:ext cx="2651760" cy="2103120"/>
          </a:xfrm>
          <a:prstGeom prst="roundRect">
            <a:avLst>
              <a:gd name="adj" fmla="val 7826"/>
            </a:avLst>
          </a:prstGeom>
          <a:solidFill>
            <a:srgbClr val="F7F5F1"/>
          </a:solidFill>
          <a:ln w="6350">
            <a:solidFill>
              <a:srgbClr val="EAE5DE"/>
            </a:solidFill>
            <a:prstDash val="solid"/>
          </a:ln>
        </p:spPr>
      </p:sp>
      <p:sp>
        <p:nvSpPr>
          <p:cNvPr id="14" name="Shape 12"/>
          <p:cNvSpPr/>
          <p:nvPr/>
        </p:nvSpPr>
        <p:spPr>
          <a:xfrm>
            <a:off x="640080" y="2816352"/>
            <a:ext cx="640080" cy="201168"/>
          </a:xfrm>
          <a:prstGeom prst="roundRect">
            <a:avLst>
              <a:gd name="adj" fmla="val 50000"/>
            </a:avLst>
          </a:prstGeom>
          <a:solidFill>
            <a:srgbClr val="B56A2A"/>
          </a:solidFill>
          <a:ln w="12700">
            <a:solidFill>
              <a:srgbClr val="B56A2A"/>
            </a:solidFill>
            <a:prstDash val="solid"/>
          </a:ln>
        </p:spPr>
      </p:sp>
      <p:sp>
        <p:nvSpPr>
          <p:cNvPr id="15" name="Text 13"/>
          <p:cNvSpPr txBox="1"/>
          <p:nvPr/>
        </p:nvSpPr>
        <p:spPr>
          <a:xfrm>
            <a:off x="658368" y="2834640"/>
            <a:ext cx="60350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XRD</a:t>
            </a:r>
            <a:endParaRPr lang="en-US" sz="800" dirty="0"/>
          </a:p>
        </p:txBody>
      </p:sp>
      <p:sp>
        <p:nvSpPr>
          <p:cNvPr id="16" name="Text 14"/>
          <p:cNvSpPr txBox="1"/>
          <p:nvPr/>
        </p:nvSpPr>
        <p:spPr>
          <a:xfrm>
            <a:off x="640080" y="3127248"/>
            <a:ext cx="2286000" cy="329184"/>
          </a:xfrm>
          <a:prstGeom prst="rect">
            <a:avLst/>
          </a:prstGeom>
          <a:noFill/>
          <a:ln/>
        </p:spPr>
        <p:txBody>
          <a:bodyPr wrap="square" lIns="0" tIns="0" rIns="0" bIns="0"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Peak fitting</a:t>
            </a:r>
            <a:endParaRPr lang="en-US" sz="1300" dirty="0"/>
          </a:p>
        </p:txBody>
      </p:sp>
      <p:sp>
        <p:nvSpPr>
          <p:cNvPr id="17" name="Text 15"/>
          <p:cNvSpPr txBox="1"/>
          <p:nvPr/>
        </p:nvSpPr>
        <p:spPr>
          <a:xfrm>
            <a:off x="640080" y="3520440"/>
            <a:ext cx="2286000" cy="109728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NIST LaB₆ validated · lattice param within 0.0001 Å of certified value</a:t>
            </a:r>
            <a:endParaRPr lang="en-US" sz="1100" dirty="0"/>
          </a:p>
        </p:txBody>
      </p:sp>
      <p:sp>
        <p:nvSpPr>
          <p:cNvPr id="18" name="Shape 16"/>
          <p:cNvSpPr/>
          <p:nvPr/>
        </p:nvSpPr>
        <p:spPr>
          <a:xfrm>
            <a:off x="3337560" y="2651760"/>
            <a:ext cx="2651760" cy="2103120"/>
          </a:xfrm>
          <a:prstGeom prst="roundRect">
            <a:avLst>
              <a:gd name="adj" fmla="val 7826"/>
            </a:avLst>
          </a:prstGeom>
          <a:solidFill>
            <a:srgbClr val="F7F5F1"/>
          </a:solidFill>
          <a:ln w="6350">
            <a:solidFill>
              <a:srgbClr val="EAE5DE"/>
            </a:solidFill>
            <a:prstDash val="solid"/>
          </a:ln>
        </p:spPr>
      </p:sp>
      <p:sp>
        <p:nvSpPr>
          <p:cNvPr id="19" name="Shape 17"/>
          <p:cNvSpPr/>
          <p:nvPr/>
        </p:nvSpPr>
        <p:spPr>
          <a:xfrm>
            <a:off x="3520440" y="2816352"/>
            <a:ext cx="640080" cy="201168"/>
          </a:xfrm>
          <a:prstGeom prst="roundRect">
            <a:avLst>
              <a:gd name="adj" fmla="val 50000"/>
            </a:avLst>
          </a:prstGeom>
          <a:solidFill>
            <a:srgbClr val="B56A2A"/>
          </a:solidFill>
          <a:ln w="12700">
            <a:solidFill>
              <a:srgbClr val="B56A2A"/>
            </a:solidFill>
            <a:prstDash val="solid"/>
          </a:ln>
        </p:spPr>
      </p:sp>
      <p:sp>
        <p:nvSpPr>
          <p:cNvPr id="20" name="Text 18"/>
          <p:cNvSpPr txBox="1"/>
          <p:nvPr/>
        </p:nvSpPr>
        <p:spPr>
          <a:xfrm>
            <a:off x="3538728" y="2834640"/>
            <a:ext cx="60350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VSM</a:t>
            </a:r>
            <a:endParaRPr lang="en-US" sz="800" dirty="0"/>
          </a:p>
        </p:txBody>
      </p:sp>
      <p:sp>
        <p:nvSpPr>
          <p:cNvPr id="21" name="Text 19"/>
          <p:cNvSpPr txBox="1"/>
          <p:nvPr/>
        </p:nvSpPr>
        <p:spPr>
          <a:xfrm>
            <a:off x="3520440" y="3127248"/>
            <a:ext cx="2286000" cy="329184"/>
          </a:xfrm>
          <a:prstGeom prst="rect">
            <a:avLst/>
          </a:prstGeom>
          <a:noFill/>
          <a:ln/>
        </p:spPr>
        <p:txBody>
          <a:bodyPr wrap="square" lIns="0" tIns="0" rIns="0" bIns="0"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Multi-segment hysteresis</a:t>
            </a:r>
            <a:endParaRPr lang="en-US" sz="1300" dirty="0"/>
          </a:p>
        </p:txBody>
      </p:sp>
      <p:sp>
        <p:nvSpPr>
          <p:cNvPr id="22" name="Text 20"/>
          <p:cNvSpPr txBox="1"/>
          <p:nvPr/>
        </p:nvSpPr>
        <p:spPr>
          <a:xfrm>
            <a:off x="3520440" y="3520440"/>
            <a:ext cx="2286000" cy="109728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Hc, Mr, BHmax, α/β coefficients, ΔSm entropy change · 3 instrument types</a:t>
            </a:r>
            <a:endParaRPr lang="en-US" sz="1100" dirty="0"/>
          </a:p>
        </p:txBody>
      </p:sp>
      <p:sp>
        <p:nvSpPr>
          <p:cNvPr id="23" name="Shape 21"/>
          <p:cNvSpPr/>
          <p:nvPr/>
        </p:nvSpPr>
        <p:spPr>
          <a:xfrm>
            <a:off x="6217920" y="2651760"/>
            <a:ext cx="2651760" cy="2103120"/>
          </a:xfrm>
          <a:prstGeom prst="roundRect">
            <a:avLst>
              <a:gd name="adj" fmla="val 7826"/>
            </a:avLst>
          </a:prstGeom>
          <a:solidFill>
            <a:srgbClr val="F7F5F1"/>
          </a:solidFill>
          <a:ln w="6350">
            <a:solidFill>
              <a:srgbClr val="EAE5DE"/>
            </a:solidFill>
            <a:prstDash val="solid"/>
          </a:ln>
        </p:spPr>
      </p:sp>
      <p:sp>
        <p:nvSpPr>
          <p:cNvPr id="24" name="Shape 22"/>
          <p:cNvSpPr/>
          <p:nvPr/>
        </p:nvSpPr>
        <p:spPr>
          <a:xfrm>
            <a:off x="6400800" y="2816352"/>
            <a:ext cx="640080" cy="201168"/>
          </a:xfrm>
          <a:prstGeom prst="roundRect">
            <a:avLst>
              <a:gd name="adj" fmla="val 50000"/>
            </a:avLst>
          </a:prstGeom>
          <a:solidFill>
            <a:srgbClr val="B56A2A"/>
          </a:solidFill>
          <a:ln w="12700">
            <a:solidFill>
              <a:srgbClr val="B56A2A"/>
            </a:solidFill>
            <a:prstDash val="solid"/>
          </a:ln>
        </p:spPr>
      </p:sp>
      <p:sp>
        <p:nvSpPr>
          <p:cNvPr id="25" name="Text 23"/>
          <p:cNvSpPr txBox="1"/>
          <p:nvPr/>
        </p:nvSpPr>
        <p:spPr>
          <a:xfrm>
            <a:off x="6419088" y="2834640"/>
            <a:ext cx="60350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SEM</a:t>
            </a:r>
            <a:endParaRPr lang="en-US" sz="800" dirty="0"/>
          </a:p>
        </p:txBody>
      </p:sp>
      <p:sp>
        <p:nvSpPr>
          <p:cNvPr id="26" name="Text 24"/>
          <p:cNvSpPr txBox="1"/>
          <p:nvPr/>
        </p:nvSpPr>
        <p:spPr>
          <a:xfrm>
            <a:off x="6400800" y="3127248"/>
            <a:ext cx="2286000" cy="329184"/>
          </a:xfrm>
          <a:prstGeom prst="rect">
            <a:avLst/>
          </a:prstGeom>
          <a:noFill/>
          <a:ln/>
        </p:spPr>
        <p:txBody>
          <a:bodyPr wrap="square" lIns="0" tIns="0" rIns="0" bIns="0"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Unified metadata + phase fraction</a:t>
            </a:r>
            <a:endParaRPr lang="en-US" sz="1300" dirty="0"/>
          </a:p>
        </p:txBody>
      </p:sp>
      <p:sp>
        <p:nvSpPr>
          <p:cNvPr id="27" name="Text 25"/>
          <p:cNvSpPr txBox="1"/>
          <p:nvPr/>
        </p:nvSpPr>
        <p:spPr>
          <a:xfrm>
            <a:off x="6400800" y="3520440"/>
            <a:ext cx="2286000" cy="109728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Zeiss / JEOL / Tescan (16-bit) · operator-confirmed threshold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01168"/>
          </a:xfrm>
          <a:prstGeom prst="rect">
            <a:avLst/>
          </a:prstGeom>
          <a:noFill/>
          <a:ln/>
        </p:spPr>
        <p:txBody>
          <a:bodyPr wrap="square" lIns="0" tIns="0" rIns="0" bIns="0" rtlCol="0" anchor="ctr"/>
          <a:lstStyle/>
          <a:p>
            <a:pPr indent="0" marL="0">
              <a:buNone/>
            </a:pPr>
            <a:r>
              <a:rPr lang="en-US" sz="800" b="1" spc="300" kern="0" dirty="0">
                <a:solidFill>
                  <a:srgbClr val="B56A2A"/>
                </a:solidFill>
                <a:latin typeface="Calibri" pitchFamily="34" charset="0"/>
                <a:ea typeface="Calibri" pitchFamily="34" charset="-122"/>
                <a:cs typeface="Calibri" pitchFamily="34" charset="-120"/>
              </a:rPr>
              <a:t>PIPELINE · XRD</a:t>
            </a:r>
            <a:endParaRPr lang="en-US" sz="800" dirty="0"/>
          </a:p>
        </p:txBody>
      </p:sp>
      <p:sp>
        <p:nvSpPr>
          <p:cNvPr id="3" name="Shape 1"/>
          <p:cNvSpPr/>
          <p:nvPr/>
        </p:nvSpPr>
        <p:spPr>
          <a:xfrm>
            <a:off x="457200" y="566928"/>
            <a:ext cx="640080" cy="201168"/>
          </a:xfrm>
          <a:prstGeom prst="roundRect">
            <a:avLst>
              <a:gd name="adj" fmla="val 50000"/>
            </a:avLst>
          </a:prstGeom>
          <a:solidFill>
            <a:srgbClr val="B56A2A"/>
          </a:solidFill>
          <a:ln w="12700">
            <a:solidFill>
              <a:srgbClr val="B56A2A"/>
            </a:solidFill>
            <a:prstDash val="solid"/>
          </a:ln>
        </p:spPr>
      </p:sp>
      <p:sp>
        <p:nvSpPr>
          <p:cNvPr id="4" name="Text 2"/>
          <p:cNvSpPr txBox="1"/>
          <p:nvPr/>
        </p:nvSpPr>
        <p:spPr>
          <a:xfrm>
            <a:off x="475488" y="585216"/>
            <a:ext cx="60350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XRD</a:t>
            </a:r>
            <a:endParaRPr lang="en-US" sz="800" dirty="0"/>
          </a:p>
        </p:txBody>
      </p:sp>
      <p:sp>
        <p:nvSpPr>
          <p:cNvPr id="5" name="Text 3"/>
          <p:cNvSpPr txBox="1"/>
          <p:nvPr/>
        </p:nvSpPr>
        <p:spPr>
          <a:xfrm>
            <a:off x="1234440" y="548640"/>
            <a:ext cx="7452360" cy="384048"/>
          </a:xfrm>
          <a:prstGeom prst="rect">
            <a:avLst/>
          </a:prstGeom>
          <a:noFill/>
          <a:ln/>
        </p:spPr>
        <p:txBody>
          <a:bodyPr wrap="square" lIns="0" tIns="0" rIns="0" bIns="0" rtlCol="0" anchor="ctr"/>
          <a:lstStyle/>
          <a:p>
            <a:pPr indent="0" marL="0">
              <a:buNone/>
            </a:pPr>
            <a:r>
              <a:rPr lang="en-US" sz="2400" b="1" dirty="0">
                <a:solidFill>
                  <a:srgbClr val="1C1C1E"/>
                </a:solidFill>
                <a:latin typeface="Georgia" pitchFamily="34" charset="0"/>
                <a:ea typeface="Georgia" pitchFamily="34" charset="-122"/>
                <a:cs typeface="Georgia" pitchFamily="34" charset="-120"/>
              </a:rPr>
              <a:t>X-ray Diffraction — Peak fitting pipeline</a:t>
            </a:r>
            <a:endParaRPr lang="en-US" sz="2400" dirty="0"/>
          </a:p>
        </p:txBody>
      </p:sp>
      <p:sp>
        <p:nvSpPr>
          <p:cNvPr id="6" name="Shape 4"/>
          <p:cNvSpPr/>
          <p:nvPr/>
        </p:nvSpPr>
        <p:spPr>
          <a:xfrm>
            <a:off x="457200" y="1051560"/>
            <a:ext cx="5120640" cy="347472"/>
          </a:xfrm>
          <a:prstGeom prst="roundRect">
            <a:avLst>
              <a:gd name="adj" fmla="val 26316"/>
            </a:avLst>
          </a:prstGeom>
          <a:solidFill>
            <a:srgbClr val="FBF3EB"/>
          </a:solidFill>
          <a:ln w="6350">
            <a:solidFill>
              <a:srgbClr val="E8D5BC"/>
            </a:solidFill>
            <a:prstDash val="solid"/>
          </a:ln>
        </p:spPr>
      </p:sp>
      <p:sp>
        <p:nvSpPr>
          <p:cNvPr id="7" name="Text 5"/>
          <p:cNvSpPr txBox="1"/>
          <p:nvPr/>
        </p:nvSpPr>
        <p:spPr>
          <a:xfrm>
            <a:off x="594360" y="1097280"/>
            <a:ext cx="4846320" cy="256032"/>
          </a:xfrm>
          <a:prstGeom prst="rect">
            <a:avLst/>
          </a:prstGeom>
          <a:noFill/>
          <a:ln/>
        </p:spPr>
        <p:txBody>
          <a:bodyPr wrap="square" lIns="0" tIns="0" rIns="0" bIns="0" rtlCol="0" anchor="ctr"/>
          <a:lstStyle/>
          <a:p>
            <a:pPr indent="0" marL="0">
              <a:buNone/>
            </a:pPr>
            <a:r>
              <a:rPr lang="en-US" sz="1000" b="1" dirty="0">
                <a:solidFill>
                  <a:srgbClr val="B56A2A"/>
                </a:solidFill>
                <a:latin typeface="Calibri" pitchFamily="34" charset="0"/>
                <a:ea typeface="Calibri" pitchFamily="34" charset="-122"/>
                <a:cs typeface="Calibri" pitchFamily="34" charset="-120"/>
              </a:rPr>
              <a:t>✓  Validated against NIST SRM 660c (LaB₆) — lattice parameter within 0.0001 Å of certified value</a:t>
            </a:r>
            <a:endParaRPr lang="en-US" sz="1000" dirty="0"/>
          </a:p>
        </p:txBody>
      </p:sp>
      <p:sp>
        <p:nvSpPr>
          <p:cNvPr id="8" name="Text 6"/>
          <p:cNvSpPr txBox="1"/>
          <p:nvPr/>
        </p:nvSpPr>
        <p:spPr>
          <a:xfrm>
            <a:off x="457200" y="1508760"/>
            <a:ext cx="5029200" cy="3657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A4A4E"/>
                </a:solidFill>
                <a:latin typeface="Calibri" pitchFamily="34" charset="0"/>
                <a:ea typeface="Calibri" pitchFamily="34" charset="-122"/>
                <a:cs typeface="Calibri" pitchFamily="34" charset="-120"/>
              </a:rPr>
              <a:t>Background subtraction and Kα2 stripping (Cu anode)</a:t>
            </a:r>
            <a:endParaRPr lang="en-US" sz="1200" dirty="0"/>
          </a:p>
          <a:p>
            <a:pPr marL="342900" indent="-342900">
              <a:spcAft>
                <a:spcPts val="400"/>
              </a:spcAft>
              <a:buSzPct val="100000"/>
              <a:buChar char="•"/>
            </a:pPr>
            <a:r>
              <a:rPr lang="en-US" sz="1200" dirty="0">
                <a:solidFill>
                  <a:srgbClr val="4A4A4E"/>
                </a:solidFill>
                <a:latin typeface="Calibri" pitchFamily="34" charset="0"/>
                <a:ea typeface="Calibri" pitchFamily="34" charset="-122"/>
                <a:cs typeface="Calibri" pitchFamily="34" charset="-120"/>
              </a:rPr>
              <a:t>Neighbour-aware peak fitting — each peak uses local context, not isolated windows</a:t>
            </a:r>
            <a:endParaRPr lang="en-US" sz="1200" dirty="0"/>
          </a:p>
          <a:p>
            <a:pPr marL="342900" indent="-342900">
              <a:spcAft>
                <a:spcPts val="400"/>
              </a:spcAft>
              <a:buSzPct val="100000"/>
              <a:buChar char="•"/>
            </a:pPr>
            <a:r>
              <a:rPr lang="en-US" sz="1200" dirty="0">
                <a:solidFill>
                  <a:srgbClr val="4A4A4E"/>
                </a:solidFill>
                <a:latin typeface="Calibri" pitchFamily="34" charset="0"/>
                <a:ea typeface="Calibri" pitchFamily="34" charset="-122"/>
                <a:cs typeface="Calibri" pitchFamily="34" charset="-120"/>
              </a:rPr>
              <a:t>R² quality score per peak — low-quality fits flagged, never silently averaged</a:t>
            </a:r>
            <a:endParaRPr lang="en-US" sz="1200" dirty="0"/>
          </a:p>
          <a:p>
            <a:pPr marL="342900" indent="-342900">
              <a:spcAft>
                <a:spcPts val="400"/>
              </a:spcAft>
              <a:buSzPct val="100000"/>
              <a:buChar char="•"/>
            </a:pPr>
            <a:r>
              <a:rPr lang="en-US" sz="1200" dirty="0">
                <a:solidFill>
                  <a:srgbClr val="4A4A4E"/>
                </a:solidFill>
                <a:latin typeface="Calibri" pitchFamily="34" charset="0"/>
                <a:ea typeface="Calibri" pitchFamily="34" charset="-122"/>
                <a:cs typeface="Calibri" pitchFamily="34" charset="-120"/>
              </a:rPr>
              <a:t>Scherrer crystallite size and d-spacing extracted automatically</a:t>
            </a:r>
            <a:endParaRPr lang="en-US" sz="1200" dirty="0"/>
          </a:p>
          <a:p>
            <a:pPr marL="342900" indent="-342900">
              <a:spcAft>
                <a:spcPts val="400"/>
              </a:spcAft>
              <a:buSzPct val="100000"/>
              <a:buChar char="•"/>
            </a:pPr>
            <a:r>
              <a:rPr lang="en-US" sz="1200" dirty="0">
                <a:solidFill>
                  <a:srgbClr val="4A4A4E"/>
                </a:solidFill>
                <a:latin typeface="Calibri" pitchFamily="34" charset="0"/>
                <a:ea typeface="Calibri" pitchFamily="34" charset="-122"/>
                <a:cs typeface="Calibri" pitchFamily="34" charset="-120"/>
              </a:rPr>
              <a:t>xrd_peaks table: one row per peak (long format)</a:t>
            </a:r>
            <a:endParaRPr lang="en-US" sz="1200" dirty="0"/>
          </a:p>
          <a:p>
            <a:pPr marL="342900" indent="-342900">
              <a:spcAft>
                <a:spcPts val="400"/>
              </a:spcAft>
              <a:buSzPct val="100000"/>
              <a:buChar char="•"/>
            </a:pPr>
            <a:r>
              <a:rPr lang="en-US" sz="1200" dirty="0">
                <a:solidFill>
                  <a:srgbClr val="4A4A4E"/>
                </a:solidFill>
                <a:latin typeface="Calibri" pitchFamily="34" charset="0"/>
                <a:ea typeface="Calibri" pitchFamily="34" charset="-122"/>
                <a:cs typeface="Calibri" pitchFamily="34" charset="-120"/>
              </a:rPr>
              <a:t>xrd_features table: one row per sample, ML-ready wide format</a:t>
            </a:r>
            <a:endParaRPr lang="en-US" sz="1200" dirty="0"/>
          </a:p>
        </p:txBody>
      </p:sp>
      <p:sp>
        <p:nvSpPr>
          <p:cNvPr id="9" name="Shape 7"/>
          <p:cNvSpPr/>
          <p:nvPr/>
        </p:nvSpPr>
        <p:spPr>
          <a:xfrm>
            <a:off x="5715000" y="1005840"/>
            <a:ext cx="2971800" cy="3108960"/>
          </a:xfrm>
          <a:prstGeom prst="rect">
            <a:avLst/>
          </a:prstGeom>
          <a:solidFill>
            <a:srgbClr val="F3F0EA"/>
          </a:solidFill>
          <a:ln w="12700">
            <a:solidFill>
              <a:srgbClr val="C9C2B8"/>
            </a:solidFill>
            <a:prstDash val="dash"/>
          </a:ln>
        </p:spPr>
      </p:sp>
      <p:sp>
        <p:nvSpPr>
          <p:cNvPr id="10" name="Text 8"/>
          <p:cNvSpPr txBox="1"/>
          <p:nvPr/>
        </p:nvSpPr>
        <p:spPr>
          <a:xfrm>
            <a:off x="5715000" y="2395728"/>
            <a:ext cx="2971800" cy="329184"/>
          </a:xfrm>
          <a:prstGeom prst="rect">
            <a:avLst/>
          </a:prstGeom>
          <a:noFill/>
          <a:ln/>
        </p:spPr>
        <p:txBody>
          <a:bodyPr wrap="square" lIns="0" tIns="0" rIns="0" bIns="0" rtlCol="0" anchor="ctr"/>
          <a:lstStyle/>
          <a:p>
            <a:pPr algn="ctr" indent="0" marL="0">
              <a:buNone/>
            </a:pPr>
            <a:r>
              <a:rPr lang="en-US" sz="1000" dirty="0">
                <a:solidFill>
                  <a:srgbClr val="7A7A7A"/>
                </a:solidFill>
                <a:latin typeface="Calibri" pitchFamily="34" charset="0"/>
                <a:ea typeface="Calibri" pitchFamily="34" charset="-122"/>
                <a:cs typeface="Calibri" pitchFamily="34" charset="-120"/>
              </a:rPr>
              <a:t>📷  XRD pattern with fitted peaks</a:t>
            </a:r>
            <a:endParaRPr lang="en-US" sz="1000" dirty="0"/>
          </a:p>
          <a:p>
            <a:pPr algn="ctr" indent="0" marL="0">
              <a:buNone/>
            </a:pPr>
            <a:r>
              <a:rPr lang="en-US" sz="1000" dirty="0">
                <a:solidFill>
                  <a:srgbClr val="7A7A7A"/>
                </a:solidFill>
                <a:latin typeface="Calibri" pitchFamily="34" charset="0"/>
                <a:ea typeface="Calibri" pitchFamily="34" charset="-122"/>
                <a:cs typeface="Calibri" pitchFamily="34" charset="-120"/>
              </a:rPr>
              <a:t>(standalone analyzer tool)</a:t>
            </a:r>
            <a:endParaRPr lang="en-US" sz="1000" dirty="0"/>
          </a:p>
        </p:txBody>
      </p:sp>
      <p:sp>
        <p:nvSpPr>
          <p:cNvPr id="11" name="Text 9"/>
          <p:cNvSpPr txBox="1"/>
          <p:nvPr/>
        </p:nvSpPr>
        <p:spPr>
          <a:xfrm>
            <a:off x="457200" y="4343400"/>
            <a:ext cx="2377440" cy="347472"/>
          </a:xfrm>
          <a:prstGeom prst="rect">
            <a:avLst/>
          </a:prstGeom>
          <a:noFill/>
          <a:ln/>
        </p:spPr>
        <p:txBody>
          <a:bodyPr wrap="square" lIns="0" tIns="0" rIns="0" bIns="0" rtlCol="0" anchor="ctr"/>
          <a:lstStyle/>
          <a:p>
            <a:pPr indent="0" marL="0">
              <a:buNone/>
            </a:pPr>
            <a:r>
              <a:rPr lang="en-US" sz="2400" b="1" dirty="0">
                <a:solidFill>
                  <a:srgbClr val="B56A2A"/>
                </a:solidFill>
                <a:latin typeface="Georgia" pitchFamily="34" charset="0"/>
                <a:ea typeface="Georgia" pitchFamily="34" charset="-122"/>
                <a:cs typeface="Georgia" pitchFamily="34" charset="-120"/>
              </a:rPr>
              <a:t>57–58</a:t>
            </a:r>
            <a:endParaRPr lang="en-US" sz="2400" dirty="0"/>
          </a:p>
        </p:txBody>
      </p:sp>
      <p:sp>
        <p:nvSpPr>
          <p:cNvPr id="12" name="Text 10"/>
          <p:cNvSpPr txBox="1"/>
          <p:nvPr/>
        </p:nvSpPr>
        <p:spPr>
          <a:xfrm>
            <a:off x="457200" y="4681728"/>
            <a:ext cx="2377440" cy="201168"/>
          </a:xfrm>
          <a:prstGeom prst="rect">
            <a:avLst/>
          </a:prstGeom>
          <a:noFill/>
          <a:ln/>
        </p:spPr>
        <p:txBody>
          <a:bodyPr wrap="square" lIns="0" tIns="0" rIns="0" bIns="0" rtlCol="0" anchor="ctr"/>
          <a:lstStyle/>
          <a:p>
            <a:pPr indent="0" marL="0">
              <a:buNone/>
            </a:pPr>
            <a:r>
              <a:rPr lang="en-US" sz="1000" dirty="0">
                <a:solidFill>
                  <a:srgbClr val="7A7A7A"/>
                </a:solidFill>
                <a:latin typeface="Calibri" pitchFamily="34" charset="0"/>
                <a:ea typeface="Calibri" pitchFamily="34" charset="-122"/>
                <a:cs typeface="Calibri" pitchFamily="34" charset="-120"/>
              </a:rPr>
              <a:t>peaks per sample</a:t>
            </a:r>
            <a:endParaRPr lang="en-US" sz="1000" dirty="0"/>
          </a:p>
        </p:txBody>
      </p:sp>
      <p:sp>
        <p:nvSpPr>
          <p:cNvPr id="13" name="Text 11"/>
          <p:cNvSpPr txBox="1"/>
          <p:nvPr/>
        </p:nvSpPr>
        <p:spPr>
          <a:xfrm>
            <a:off x="3200400" y="4343400"/>
            <a:ext cx="2377440" cy="347472"/>
          </a:xfrm>
          <a:prstGeom prst="rect">
            <a:avLst/>
          </a:prstGeom>
          <a:noFill/>
          <a:ln/>
        </p:spPr>
        <p:txBody>
          <a:bodyPr wrap="square" lIns="0" tIns="0" rIns="0" bIns="0" rtlCol="0" anchor="ctr"/>
          <a:lstStyle/>
          <a:p>
            <a:pPr indent="0" marL="0">
              <a:buNone/>
            </a:pPr>
            <a:r>
              <a:rPr lang="en-US" sz="2400" b="1" dirty="0">
                <a:solidFill>
                  <a:srgbClr val="B56A2A"/>
                </a:solidFill>
                <a:latin typeface="Georgia" pitchFamily="34" charset="0"/>
                <a:ea typeface="Georgia" pitchFamily="34" charset="-122"/>
                <a:cs typeface="Georgia" pitchFamily="34" charset="-120"/>
              </a:rPr>
              <a:t>0.938</a:t>
            </a:r>
            <a:endParaRPr lang="en-US" sz="2400" dirty="0"/>
          </a:p>
        </p:txBody>
      </p:sp>
      <p:sp>
        <p:nvSpPr>
          <p:cNvPr id="14" name="Text 12"/>
          <p:cNvSpPr txBox="1"/>
          <p:nvPr/>
        </p:nvSpPr>
        <p:spPr>
          <a:xfrm>
            <a:off x="3200400" y="4681728"/>
            <a:ext cx="2377440" cy="201168"/>
          </a:xfrm>
          <a:prstGeom prst="rect">
            <a:avLst/>
          </a:prstGeom>
          <a:noFill/>
          <a:ln/>
        </p:spPr>
        <p:txBody>
          <a:bodyPr wrap="square" lIns="0" tIns="0" rIns="0" bIns="0" rtlCol="0" anchor="ctr"/>
          <a:lstStyle/>
          <a:p>
            <a:pPr indent="0" marL="0">
              <a:buNone/>
            </a:pPr>
            <a:r>
              <a:rPr lang="en-US" sz="1000" dirty="0">
                <a:solidFill>
                  <a:srgbClr val="7A7A7A"/>
                </a:solidFill>
                <a:latin typeface="Calibri" pitchFamily="34" charset="0"/>
                <a:ea typeface="Calibri" pitchFamily="34" charset="-122"/>
                <a:cs typeface="Calibri" pitchFamily="34" charset="-120"/>
              </a:rPr>
              <a:t>mean R²</a:t>
            </a:r>
            <a:endParaRPr lang="en-US" sz="1000" dirty="0"/>
          </a:p>
        </p:txBody>
      </p:sp>
      <p:sp>
        <p:nvSpPr>
          <p:cNvPr id="15" name="Text 13"/>
          <p:cNvSpPr txBox="1"/>
          <p:nvPr/>
        </p:nvSpPr>
        <p:spPr>
          <a:xfrm>
            <a:off x="5943600" y="4343400"/>
            <a:ext cx="2377440" cy="347472"/>
          </a:xfrm>
          <a:prstGeom prst="rect">
            <a:avLst/>
          </a:prstGeom>
          <a:noFill/>
          <a:ln/>
        </p:spPr>
        <p:txBody>
          <a:bodyPr wrap="square" lIns="0" tIns="0" rIns="0" bIns="0" rtlCol="0" anchor="ctr"/>
          <a:lstStyle/>
          <a:p>
            <a:pPr indent="0" marL="0">
              <a:buNone/>
            </a:pPr>
            <a:r>
              <a:rPr lang="en-US" sz="2400" b="1" dirty="0">
                <a:solidFill>
                  <a:srgbClr val="B56A2A"/>
                </a:solidFill>
                <a:latin typeface="Georgia" pitchFamily="34" charset="0"/>
                <a:ea typeface="Georgia" pitchFamily="34" charset="-122"/>
                <a:cs typeface="Georgia" pitchFamily="34" charset="-120"/>
              </a:rPr>
              <a:t>0.0001 Å</a:t>
            </a:r>
            <a:endParaRPr lang="en-US" sz="2400" dirty="0"/>
          </a:p>
        </p:txBody>
      </p:sp>
      <p:sp>
        <p:nvSpPr>
          <p:cNvPr id="16" name="Text 14"/>
          <p:cNvSpPr txBox="1"/>
          <p:nvPr/>
        </p:nvSpPr>
        <p:spPr>
          <a:xfrm>
            <a:off x="5943600" y="4681728"/>
            <a:ext cx="2377440" cy="201168"/>
          </a:xfrm>
          <a:prstGeom prst="rect">
            <a:avLst/>
          </a:prstGeom>
          <a:noFill/>
          <a:ln/>
        </p:spPr>
        <p:txBody>
          <a:bodyPr wrap="square" lIns="0" tIns="0" rIns="0" bIns="0" rtlCol="0" anchor="ctr"/>
          <a:lstStyle/>
          <a:p>
            <a:pPr indent="0" marL="0">
              <a:buNone/>
            </a:pPr>
            <a:r>
              <a:rPr lang="en-US" sz="1000" dirty="0">
                <a:solidFill>
                  <a:srgbClr val="7A7A7A"/>
                </a:solidFill>
                <a:latin typeface="Calibri" pitchFamily="34" charset="0"/>
                <a:ea typeface="Calibri" pitchFamily="34" charset="-122"/>
                <a:cs typeface="Calibri" pitchFamily="34" charset="-120"/>
              </a:rPr>
              <a:t>vs NIST ref</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01168"/>
          </a:xfrm>
          <a:prstGeom prst="rect">
            <a:avLst/>
          </a:prstGeom>
          <a:noFill/>
          <a:ln/>
        </p:spPr>
        <p:txBody>
          <a:bodyPr wrap="square" lIns="0" tIns="0" rIns="0" bIns="0" rtlCol="0" anchor="ctr"/>
          <a:lstStyle/>
          <a:p>
            <a:pPr indent="0" marL="0">
              <a:buNone/>
            </a:pPr>
            <a:r>
              <a:rPr lang="en-US" sz="800" b="1" spc="300" kern="0" dirty="0">
                <a:solidFill>
                  <a:srgbClr val="B56A2A"/>
                </a:solidFill>
                <a:latin typeface="Calibri" pitchFamily="34" charset="0"/>
                <a:ea typeface="Calibri" pitchFamily="34" charset="-122"/>
                <a:cs typeface="Calibri" pitchFamily="34" charset="-120"/>
              </a:rPr>
              <a:t>PIPELINE · VSM</a:t>
            </a:r>
            <a:endParaRPr lang="en-US" sz="800" dirty="0"/>
          </a:p>
        </p:txBody>
      </p:sp>
      <p:sp>
        <p:nvSpPr>
          <p:cNvPr id="3" name="Shape 1"/>
          <p:cNvSpPr/>
          <p:nvPr/>
        </p:nvSpPr>
        <p:spPr>
          <a:xfrm>
            <a:off x="457200" y="566928"/>
            <a:ext cx="640080" cy="201168"/>
          </a:xfrm>
          <a:prstGeom prst="roundRect">
            <a:avLst>
              <a:gd name="adj" fmla="val 50000"/>
            </a:avLst>
          </a:prstGeom>
          <a:solidFill>
            <a:srgbClr val="B56A2A"/>
          </a:solidFill>
          <a:ln w="12700">
            <a:solidFill>
              <a:srgbClr val="B56A2A"/>
            </a:solidFill>
            <a:prstDash val="solid"/>
          </a:ln>
        </p:spPr>
      </p:sp>
      <p:sp>
        <p:nvSpPr>
          <p:cNvPr id="4" name="Text 2"/>
          <p:cNvSpPr txBox="1"/>
          <p:nvPr/>
        </p:nvSpPr>
        <p:spPr>
          <a:xfrm>
            <a:off x="475488" y="585216"/>
            <a:ext cx="60350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VSM</a:t>
            </a:r>
            <a:endParaRPr lang="en-US" sz="800" dirty="0"/>
          </a:p>
        </p:txBody>
      </p:sp>
      <p:sp>
        <p:nvSpPr>
          <p:cNvPr id="5" name="Text 3"/>
          <p:cNvSpPr txBox="1"/>
          <p:nvPr/>
        </p:nvSpPr>
        <p:spPr>
          <a:xfrm>
            <a:off x="1234440" y="548640"/>
            <a:ext cx="7452360" cy="384048"/>
          </a:xfrm>
          <a:prstGeom prst="rect">
            <a:avLst/>
          </a:prstGeom>
          <a:noFill/>
          <a:ln/>
        </p:spPr>
        <p:txBody>
          <a:bodyPr wrap="square" lIns="0" tIns="0" rIns="0" bIns="0" rtlCol="0" anchor="ctr"/>
          <a:lstStyle/>
          <a:p>
            <a:pPr indent="0" marL="0">
              <a:buNone/>
            </a:pPr>
            <a:r>
              <a:rPr lang="en-US" sz="2200" b="1" dirty="0">
                <a:solidFill>
                  <a:srgbClr val="1C1C1E"/>
                </a:solidFill>
                <a:latin typeface="Georgia" pitchFamily="34" charset="0"/>
                <a:ea typeface="Georgia" pitchFamily="34" charset="-122"/>
                <a:cs typeface="Georgia" pitchFamily="34" charset="-120"/>
              </a:rPr>
              <a:t>Vibrating Sample Magnetometry — multi-segment pipeline</a:t>
            </a:r>
            <a:endParaRPr lang="en-US" sz="2200" dirty="0"/>
          </a:p>
        </p:txBody>
      </p:sp>
      <p:sp>
        <p:nvSpPr>
          <p:cNvPr id="6" name="Shape 4"/>
          <p:cNvSpPr/>
          <p:nvPr/>
        </p:nvSpPr>
        <p:spPr>
          <a:xfrm>
            <a:off x="457200" y="1051560"/>
            <a:ext cx="8229600" cy="347472"/>
          </a:xfrm>
          <a:prstGeom prst="roundRect">
            <a:avLst>
              <a:gd name="adj" fmla="val 26316"/>
            </a:avLst>
          </a:prstGeom>
          <a:solidFill>
            <a:srgbClr val="FBF3EB"/>
          </a:solidFill>
          <a:ln w="6350">
            <a:solidFill>
              <a:srgbClr val="E8D5BC"/>
            </a:solidFill>
            <a:prstDash val="solid"/>
          </a:ln>
        </p:spPr>
      </p:sp>
      <p:sp>
        <p:nvSpPr>
          <p:cNvPr id="7" name="Text 5"/>
          <p:cNvSpPr txBox="1"/>
          <p:nvPr/>
        </p:nvSpPr>
        <p:spPr>
          <a:xfrm>
            <a:off x="594360" y="1097280"/>
            <a:ext cx="7863840" cy="256032"/>
          </a:xfrm>
          <a:prstGeom prst="rect">
            <a:avLst/>
          </a:prstGeom>
          <a:noFill/>
          <a:ln/>
        </p:spPr>
        <p:txBody>
          <a:bodyPr wrap="square" lIns="0" tIns="0" rIns="0" bIns="0" rtlCol="0" anchor="ctr"/>
          <a:lstStyle/>
          <a:p>
            <a:pPr indent="0" marL="0">
              <a:buNone/>
            </a:pPr>
            <a:r>
              <a:rPr lang="en-US" sz="1000" b="1" dirty="0">
                <a:solidFill>
                  <a:srgbClr val="B56A2A"/>
                </a:solidFill>
                <a:latin typeface="Calibri" pitchFamily="34" charset="0"/>
                <a:ea typeface="Calibri" pitchFamily="34" charset="-122"/>
                <a:cs typeface="Calibri" pitchFamily="34" charset="-120"/>
              </a:rPr>
              <a:t>Instruments: PPMS VSM · MPMS3 · ACMS   |   3 real bugs found and fixed during integration, including a NaN masking issue that silently hid a 60 K temperature jump</a:t>
            </a:r>
            <a:endParaRPr lang="en-US" sz="1000" dirty="0"/>
          </a:p>
        </p:txBody>
      </p:sp>
      <p:sp>
        <p:nvSpPr>
          <p:cNvPr id="8" name="Text 6"/>
          <p:cNvSpPr txBox="1"/>
          <p:nvPr/>
        </p:nvSpPr>
        <p:spPr>
          <a:xfrm>
            <a:off x="457200" y="1508760"/>
            <a:ext cx="4114800" cy="3657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A4A4E"/>
                </a:solidFill>
                <a:latin typeface="Calibri" pitchFamily="34" charset="0"/>
                <a:ea typeface="Calibri" pitchFamily="34" charset="-122"/>
                <a:cs typeface="Calibri" pitchFamily="34" charset="-120"/>
              </a:rPr>
              <a:t>Instrument auto-detection (PPMS/MPMS3/ACMS) — different column conventions per instrument</a:t>
            </a:r>
            <a:endParaRPr lang="en-US" sz="1200" dirty="0"/>
          </a:p>
          <a:p>
            <a:pPr marL="342900" indent="-342900">
              <a:spcAft>
                <a:spcPts val="400"/>
              </a:spcAft>
              <a:buSzPct val="100000"/>
              <a:buChar char="•"/>
            </a:pPr>
            <a:r>
              <a:rPr lang="en-US" sz="1200" dirty="0">
                <a:solidFill>
                  <a:srgbClr val="4A4A4E"/>
                </a:solidFill>
                <a:latin typeface="Calibri" pitchFamily="34" charset="0"/>
                <a:ea typeface="Calibri" pitchFamily="34" charset="-122"/>
                <a:cs typeface="Calibri" pitchFamily="34" charset="-120"/>
              </a:rPr>
              <a:t>Mass extraction from file header (primary) or filename (fallback, with confidence flag)</a:t>
            </a:r>
            <a:endParaRPr lang="en-US" sz="1200" dirty="0"/>
          </a:p>
          <a:p>
            <a:pPr marL="342900" indent="-342900">
              <a:spcAft>
                <a:spcPts val="400"/>
              </a:spcAft>
              <a:buSzPct val="100000"/>
              <a:buChar char="•"/>
            </a:pPr>
            <a:r>
              <a:rPr lang="en-US" sz="1200" dirty="0">
                <a:solidFill>
                  <a:srgbClr val="4A4A4E"/>
                </a:solidFill>
                <a:latin typeface="Calibri" pitchFamily="34" charset="0"/>
                <a:ea typeface="Calibri" pitchFamily="34" charset="-122"/>
                <a:cs typeface="Calibri" pitchFamily="34" charset="-120"/>
              </a:rPr>
              <a:t>Automatic segmentation: MH loops / MT scans / idle / corrupted</a:t>
            </a:r>
            <a:endParaRPr lang="en-US" sz="1200" dirty="0"/>
          </a:p>
          <a:p>
            <a:pPr marL="342900" indent="-342900">
              <a:spcAft>
                <a:spcPts val="400"/>
              </a:spcAft>
              <a:buSzPct val="100000"/>
              <a:buChar char="•"/>
            </a:pPr>
            <a:r>
              <a:rPr lang="en-US" sz="1200" dirty="0">
                <a:solidFill>
                  <a:srgbClr val="4A4A4E"/>
                </a:solidFill>
                <a:latin typeface="Calibri" pitchFamily="34" charset="0"/>
                <a:ea typeface="Calibri" pitchFamily="34" charset="-122"/>
                <a:cs typeface="Calibri" pitchFamily="34" charset="-120"/>
              </a:rPr>
              <a:t>Rolling-window classification — not naive point-to-point derivatives</a:t>
            </a:r>
            <a:endParaRPr lang="en-US" sz="1200" dirty="0"/>
          </a:p>
        </p:txBody>
      </p:sp>
      <p:sp>
        <p:nvSpPr>
          <p:cNvPr id="9" name="Text 7"/>
          <p:cNvSpPr txBox="1"/>
          <p:nvPr/>
        </p:nvSpPr>
        <p:spPr>
          <a:xfrm>
            <a:off x="4663440" y="1508760"/>
            <a:ext cx="4114800" cy="3657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A4A4E"/>
                </a:solidFill>
                <a:latin typeface="Calibri" pitchFamily="34" charset="0"/>
                <a:ea typeface="Calibri" pitchFamily="34" charset="-122"/>
                <a:cs typeface="Calibri" pitchFamily="34" charset="-120"/>
              </a:rPr>
              <a:t>Second-quadrant Hc/Mr via crossing-point interpolation on descending branch only</a:t>
            </a:r>
            <a:endParaRPr lang="en-US" sz="1200" dirty="0"/>
          </a:p>
          <a:p>
            <a:pPr marL="342900" indent="-342900">
              <a:spcAft>
                <a:spcPts val="400"/>
              </a:spcAft>
              <a:buSzPct val="100000"/>
              <a:buChar char="•"/>
            </a:pPr>
            <a:r>
              <a:rPr lang="en-US" sz="1200" dirty="0">
                <a:solidFill>
                  <a:srgbClr val="4A4A4E"/>
                </a:solidFill>
                <a:latin typeface="Calibri" pitchFamily="34" charset="0"/>
                <a:ea typeface="Calibri" pitchFamily="34" charset="-122"/>
                <a:cs typeface="Calibri" pitchFamily="34" charset="-120"/>
              </a:rPr>
              <a:t>Temperature coefficients α(Hc) and β(Mr) fitted across multiple-temperature series</a:t>
            </a:r>
            <a:endParaRPr lang="en-US" sz="1200" dirty="0"/>
          </a:p>
          <a:p>
            <a:pPr marL="342900" indent="-342900">
              <a:spcAft>
                <a:spcPts val="400"/>
              </a:spcAft>
              <a:buSzPct val="100000"/>
              <a:buChar char="•"/>
            </a:pPr>
            <a:r>
              <a:rPr lang="en-US" sz="1200" dirty="0">
                <a:solidFill>
                  <a:srgbClr val="4A4A4E"/>
                </a:solidFill>
                <a:latin typeface="Calibri" pitchFamily="34" charset="0"/>
                <a:ea typeface="Calibri" pitchFamily="34" charset="-122"/>
                <a:cs typeface="Calibri" pitchFamily="34" charset="-120"/>
              </a:rPr>
              <a:t>Isothermal entropy change ΔSm — with check for genuine isotherms vs bipolar loops</a:t>
            </a:r>
            <a:endParaRPr lang="en-US" sz="1200" dirty="0"/>
          </a:p>
          <a:p>
            <a:pPr marL="342900" indent="-342900">
              <a:spcAft>
                <a:spcPts val="400"/>
              </a:spcAft>
              <a:buSzPct val="100000"/>
              <a:buChar char="•"/>
            </a:pPr>
            <a:r>
              <a:rPr lang="en-US" sz="1200" dirty="0">
                <a:solidFill>
                  <a:srgbClr val="4A4A4E"/>
                </a:solidFill>
                <a:latin typeface="Calibri" pitchFamily="34" charset="0"/>
                <a:ea typeface="Calibri" pitchFamily="34" charset="-122"/>
                <a:cs typeface="Calibri" pitchFamily="34" charset="-120"/>
              </a:rPr>
              <a:t>Demagnetising correction and BHmax for cuboid samples</a:t>
            </a:r>
            <a:endParaRPr lang="en-US" sz="1200" dirty="0"/>
          </a:p>
        </p:txBody>
      </p:sp>
      <p:sp>
        <p:nvSpPr>
          <p:cNvPr id="10" name="Shape 8"/>
          <p:cNvSpPr/>
          <p:nvPr/>
        </p:nvSpPr>
        <p:spPr>
          <a:xfrm>
            <a:off x="457200" y="3886200"/>
            <a:ext cx="8229600" cy="914400"/>
          </a:xfrm>
          <a:prstGeom prst="rect">
            <a:avLst/>
          </a:prstGeom>
          <a:solidFill>
            <a:srgbClr val="F3F0EA"/>
          </a:solidFill>
          <a:ln w="12700">
            <a:solidFill>
              <a:srgbClr val="C9C2B8"/>
            </a:solidFill>
            <a:prstDash val="dash"/>
          </a:ln>
        </p:spPr>
      </p:sp>
      <p:sp>
        <p:nvSpPr>
          <p:cNvPr id="11" name="Text 9"/>
          <p:cNvSpPr txBox="1"/>
          <p:nvPr/>
        </p:nvSpPr>
        <p:spPr>
          <a:xfrm>
            <a:off x="457200" y="4178808"/>
            <a:ext cx="8229600" cy="329184"/>
          </a:xfrm>
          <a:prstGeom prst="rect">
            <a:avLst/>
          </a:prstGeom>
          <a:noFill/>
          <a:ln/>
        </p:spPr>
        <p:txBody>
          <a:bodyPr wrap="square" lIns="0" tIns="0" rIns="0" bIns="0" rtlCol="0" anchor="ctr"/>
          <a:lstStyle/>
          <a:p>
            <a:pPr algn="ctr" indent="0" marL="0">
              <a:buNone/>
            </a:pPr>
            <a:r>
              <a:rPr lang="en-US" sz="1000" dirty="0">
                <a:solidFill>
                  <a:srgbClr val="7A7A7A"/>
                </a:solidFill>
                <a:latin typeface="Calibri" pitchFamily="34" charset="0"/>
                <a:ea typeface="Calibri" pitchFamily="34" charset="-122"/>
                <a:cs typeface="Calibri" pitchFamily="34" charset="-120"/>
              </a:rPr>
              <a:t>📷  VSM hysteresis loop — multi-segment file, per-segment Hc/Mr, accept/reject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01168"/>
          </a:xfrm>
          <a:prstGeom prst="rect">
            <a:avLst/>
          </a:prstGeom>
          <a:noFill/>
          <a:ln/>
        </p:spPr>
        <p:txBody>
          <a:bodyPr wrap="square" lIns="0" tIns="0" rIns="0" bIns="0" rtlCol="0" anchor="ctr"/>
          <a:lstStyle/>
          <a:p>
            <a:pPr indent="0" marL="0">
              <a:buNone/>
            </a:pPr>
            <a:r>
              <a:rPr lang="en-US" sz="800" b="1" spc="300" kern="0" dirty="0">
                <a:solidFill>
                  <a:srgbClr val="B56A2A"/>
                </a:solidFill>
                <a:latin typeface="Calibri" pitchFamily="34" charset="0"/>
                <a:ea typeface="Calibri" pitchFamily="34" charset="-122"/>
                <a:cs typeface="Calibri" pitchFamily="34" charset="-120"/>
              </a:rPr>
              <a:t>PIPELINE · SEM</a:t>
            </a:r>
            <a:endParaRPr lang="en-US" sz="800" dirty="0"/>
          </a:p>
        </p:txBody>
      </p:sp>
      <p:sp>
        <p:nvSpPr>
          <p:cNvPr id="3" name="Shape 1"/>
          <p:cNvSpPr/>
          <p:nvPr/>
        </p:nvSpPr>
        <p:spPr>
          <a:xfrm>
            <a:off x="457200" y="566928"/>
            <a:ext cx="640080" cy="201168"/>
          </a:xfrm>
          <a:prstGeom prst="roundRect">
            <a:avLst>
              <a:gd name="adj" fmla="val 50000"/>
            </a:avLst>
          </a:prstGeom>
          <a:solidFill>
            <a:srgbClr val="B56A2A"/>
          </a:solidFill>
          <a:ln w="12700">
            <a:solidFill>
              <a:srgbClr val="B56A2A"/>
            </a:solidFill>
            <a:prstDash val="solid"/>
          </a:ln>
        </p:spPr>
      </p:sp>
      <p:sp>
        <p:nvSpPr>
          <p:cNvPr id="4" name="Text 2"/>
          <p:cNvSpPr txBox="1"/>
          <p:nvPr/>
        </p:nvSpPr>
        <p:spPr>
          <a:xfrm>
            <a:off x="475488" y="585216"/>
            <a:ext cx="60350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SEM</a:t>
            </a:r>
            <a:endParaRPr lang="en-US" sz="800" dirty="0"/>
          </a:p>
        </p:txBody>
      </p:sp>
      <p:sp>
        <p:nvSpPr>
          <p:cNvPr id="5" name="Text 3"/>
          <p:cNvSpPr txBox="1"/>
          <p:nvPr/>
        </p:nvSpPr>
        <p:spPr>
          <a:xfrm>
            <a:off x="1234440" y="548640"/>
            <a:ext cx="7452360" cy="384048"/>
          </a:xfrm>
          <a:prstGeom prst="rect">
            <a:avLst/>
          </a:prstGeom>
          <a:noFill/>
          <a:ln/>
        </p:spPr>
        <p:txBody>
          <a:bodyPr wrap="square" lIns="0" tIns="0" rIns="0" bIns="0" rtlCol="0" anchor="ctr"/>
          <a:lstStyle/>
          <a:p>
            <a:pPr indent="0" marL="0">
              <a:buNone/>
            </a:pPr>
            <a:r>
              <a:rPr lang="en-US" sz="2100" b="1" dirty="0">
                <a:solidFill>
                  <a:srgbClr val="1C1C1E"/>
                </a:solidFill>
                <a:latin typeface="Georgia" pitchFamily="34" charset="0"/>
                <a:ea typeface="Georgia" pitchFamily="34" charset="-122"/>
                <a:cs typeface="Georgia" pitchFamily="34" charset="-120"/>
              </a:rPr>
              <a:t>Scanning Electron Microscopy — unified metadata + phase fraction</a:t>
            </a:r>
            <a:endParaRPr lang="en-US" sz="2100" dirty="0"/>
          </a:p>
        </p:txBody>
      </p:sp>
      <p:sp>
        <p:nvSpPr>
          <p:cNvPr id="6" name="Shape 4"/>
          <p:cNvSpPr/>
          <p:nvPr/>
        </p:nvSpPr>
        <p:spPr>
          <a:xfrm>
            <a:off x="457200" y="1051560"/>
            <a:ext cx="2651760" cy="1828800"/>
          </a:xfrm>
          <a:prstGeom prst="roundRect">
            <a:avLst>
              <a:gd name="adj" fmla="val 9000"/>
            </a:avLst>
          </a:prstGeom>
          <a:solidFill>
            <a:srgbClr val="F7F5F1"/>
          </a:solidFill>
          <a:ln w="6350">
            <a:solidFill>
              <a:srgbClr val="EAE5DE"/>
            </a:solidFill>
            <a:prstDash val="solid"/>
          </a:ln>
        </p:spPr>
      </p:sp>
      <p:sp>
        <p:nvSpPr>
          <p:cNvPr id="7" name="Text 5"/>
          <p:cNvSpPr txBox="1"/>
          <p:nvPr/>
        </p:nvSpPr>
        <p:spPr>
          <a:xfrm>
            <a:off x="640080" y="1188720"/>
            <a:ext cx="2286000" cy="292608"/>
          </a:xfrm>
          <a:prstGeom prst="rect">
            <a:avLst/>
          </a:prstGeom>
          <a:noFill/>
          <a:ln/>
        </p:spPr>
        <p:txBody>
          <a:bodyPr wrap="square" lIns="0" tIns="0" rIns="0" bIns="0" rtlCol="0" anchor="ctr"/>
          <a:lstStyle/>
          <a:p>
            <a:pPr indent="0" marL="0">
              <a:buNone/>
            </a:pPr>
            <a:r>
              <a:rPr lang="en-US" sz="1500" b="1" dirty="0">
                <a:solidFill>
                  <a:srgbClr val="1C1C1E"/>
                </a:solidFill>
                <a:latin typeface="Calibri" pitchFamily="34" charset="0"/>
                <a:ea typeface="Calibri" pitchFamily="34" charset="-122"/>
                <a:cs typeface="Calibri" pitchFamily="34" charset="-120"/>
              </a:rPr>
              <a:t>Zeiss</a:t>
            </a:r>
            <a:endParaRPr lang="en-US" sz="1500" dirty="0"/>
          </a:p>
        </p:txBody>
      </p:sp>
      <p:sp>
        <p:nvSpPr>
          <p:cNvPr id="8" name="Text 6"/>
          <p:cNvSpPr txBox="1"/>
          <p:nvPr/>
        </p:nvSpPr>
        <p:spPr>
          <a:xfrm>
            <a:off x="640080" y="1508760"/>
            <a:ext cx="2286000" cy="502920"/>
          </a:xfrm>
          <a:prstGeom prst="rect">
            <a:avLst/>
          </a:prstGeom>
          <a:noFill/>
          <a:ln/>
        </p:spPr>
        <p:txBody>
          <a:bodyPr wrap="square" lIns="0" tIns="0" rIns="0" bIns="0" rtlCol="0" anchor="ctr"/>
          <a:lstStyle/>
          <a:p>
            <a:pPr indent="0" marL="0">
              <a:buNone/>
            </a:pPr>
            <a:r>
              <a:rPr lang="en-US" sz="1050" b="1" dirty="0">
                <a:solidFill>
                  <a:srgbClr val="B56A2A"/>
                </a:solidFill>
                <a:latin typeface="Calibri" pitchFamily="34" charset="0"/>
                <a:ea typeface="Calibri" pitchFamily="34" charset="-122"/>
                <a:cs typeface="Calibri" pitchFamily="34" charset="-120"/>
              </a:rPr>
              <a:t>Proprietary compressed binary TIFF tags (34118/34119)</a:t>
            </a:r>
            <a:endParaRPr lang="en-US" sz="1050" dirty="0"/>
          </a:p>
        </p:txBody>
      </p:sp>
      <p:sp>
        <p:nvSpPr>
          <p:cNvPr id="9" name="Text 7"/>
          <p:cNvSpPr txBox="1"/>
          <p:nvPr/>
        </p:nvSpPr>
        <p:spPr>
          <a:xfrm>
            <a:off x="640080" y="2029968"/>
            <a:ext cx="2286000" cy="731520"/>
          </a:xfrm>
          <a:prstGeom prst="rect">
            <a:avLst/>
          </a:prstGeom>
          <a:noFill/>
          <a:ln/>
        </p:spPr>
        <p:txBody>
          <a:bodyPr wrap="square" lIns="0" tIns="0" rIns="0" bIns="0" rtlCol="0" anchor="ctr"/>
          <a:lstStyle/>
          <a:p>
            <a:pPr indent="0" marL="0">
              <a:buNone/>
            </a:pPr>
            <a:r>
              <a:rPr lang="en-US" sz="1000" dirty="0">
                <a:solidFill>
                  <a:srgbClr val="4A4A4E"/>
                </a:solidFill>
                <a:latin typeface="Calibri" pitchFamily="34" charset="0"/>
                <a:ea typeface="Calibri" pitchFamily="34" charset="-122"/>
                <a:cs typeface="Calibri" pitchFamily="34" charset="-120"/>
              </a:rPr>
              <a:t>Pixel size, mag, EHT, detector — parsed from binary string</a:t>
            </a:r>
            <a:endParaRPr lang="en-US" sz="1000" dirty="0"/>
          </a:p>
        </p:txBody>
      </p:sp>
      <p:sp>
        <p:nvSpPr>
          <p:cNvPr id="10" name="Shape 8"/>
          <p:cNvSpPr/>
          <p:nvPr/>
        </p:nvSpPr>
        <p:spPr>
          <a:xfrm>
            <a:off x="3337560" y="1051560"/>
            <a:ext cx="2651760" cy="1828800"/>
          </a:xfrm>
          <a:prstGeom prst="roundRect">
            <a:avLst>
              <a:gd name="adj" fmla="val 9000"/>
            </a:avLst>
          </a:prstGeom>
          <a:solidFill>
            <a:srgbClr val="F7F5F1"/>
          </a:solidFill>
          <a:ln w="6350">
            <a:solidFill>
              <a:srgbClr val="EAE5DE"/>
            </a:solidFill>
            <a:prstDash val="solid"/>
          </a:ln>
        </p:spPr>
      </p:sp>
      <p:sp>
        <p:nvSpPr>
          <p:cNvPr id="11" name="Text 9"/>
          <p:cNvSpPr txBox="1"/>
          <p:nvPr/>
        </p:nvSpPr>
        <p:spPr>
          <a:xfrm>
            <a:off x="3520440" y="1188720"/>
            <a:ext cx="2286000" cy="292608"/>
          </a:xfrm>
          <a:prstGeom prst="rect">
            <a:avLst/>
          </a:prstGeom>
          <a:noFill/>
          <a:ln/>
        </p:spPr>
        <p:txBody>
          <a:bodyPr wrap="square" lIns="0" tIns="0" rIns="0" bIns="0" rtlCol="0" anchor="ctr"/>
          <a:lstStyle/>
          <a:p>
            <a:pPr indent="0" marL="0">
              <a:buNone/>
            </a:pPr>
            <a:r>
              <a:rPr lang="en-US" sz="1500" b="1" dirty="0">
                <a:solidFill>
                  <a:srgbClr val="1C1C1E"/>
                </a:solidFill>
                <a:latin typeface="Calibri" pitchFamily="34" charset="0"/>
                <a:ea typeface="Calibri" pitchFamily="34" charset="-122"/>
                <a:cs typeface="Calibri" pitchFamily="34" charset="-120"/>
              </a:rPr>
              <a:t>JEOL</a:t>
            </a:r>
            <a:endParaRPr lang="en-US" sz="1500" dirty="0"/>
          </a:p>
        </p:txBody>
      </p:sp>
      <p:sp>
        <p:nvSpPr>
          <p:cNvPr id="12" name="Text 10"/>
          <p:cNvSpPr txBox="1"/>
          <p:nvPr/>
        </p:nvSpPr>
        <p:spPr>
          <a:xfrm>
            <a:off x="3520440" y="1508760"/>
            <a:ext cx="2286000" cy="502920"/>
          </a:xfrm>
          <a:prstGeom prst="rect">
            <a:avLst/>
          </a:prstGeom>
          <a:noFill/>
          <a:ln/>
        </p:spPr>
        <p:txBody>
          <a:bodyPr wrap="square" lIns="0" tIns="0" rIns="0" bIns="0" rtlCol="0" anchor="ctr"/>
          <a:lstStyle/>
          <a:p>
            <a:pPr indent="0" marL="0">
              <a:buNone/>
            </a:pPr>
            <a:r>
              <a:rPr lang="en-US" sz="1050" b="1" dirty="0">
                <a:solidFill>
                  <a:srgbClr val="B56A2A"/>
                </a:solidFill>
                <a:latin typeface="Calibri" pitchFamily="34" charset="0"/>
                <a:ea typeface="Calibri" pitchFamily="34" charset="-122"/>
                <a:cs typeface="Calibri" pitchFamily="34" charset="-120"/>
              </a:rPr>
              <a:t>Sidecar .txt file, custom $KEY value format</a:t>
            </a:r>
            <a:endParaRPr lang="en-US" sz="1050" dirty="0"/>
          </a:p>
        </p:txBody>
      </p:sp>
      <p:sp>
        <p:nvSpPr>
          <p:cNvPr id="13" name="Text 11"/>
          <p:cNvSpPr txBox="1"/>
          <p:nvPr/>
        </p:nvSpPr>
        <p:spPr>
          <a:xfrm>
            <a:off x="3520440" y="2029968"/>
            <a:ext cx="2286000" cy="731520"/>
          </a:xfrm>
          <a:prstGeom prst="rect">
            <a:avLst/>
          </a:prstGeom>
          <a:noFill/>
          <a:ln/>
        </p:spPr>
        <p:txBody>
          <a:bodyPr wrap="square" lIns="0" tIns="0" rIns="0" bIns="0" rtlCol="0" anchor="ctr"/>
          <a:lstStyle/>
          <a:p>
            <a:pPr indent="0" marL="0">
              <a:buNone/>
            </a:pPr>
            <a:r>
              <a:rPr lang="en-US" sz="1000" dirty="0">
                <a:solidFill>
                  <a:srgbClr val="4A4A4E"/>
                </a:solidFill>
                <a:latin typeface="Calibri" pitchFamily="34" charset="0"/>
                <a:ea typeface="Calibri" pitchFamily="34" charset="-122"/>
                <a:cs typeface="Calibri" pitchFamily="34" charset="-120"/>
              </a:rPr>
              <a:t>Scale bar in pixels + real units → exact pixel calibration. Footer height from $CM_FULL_SIZE vs actual TIFF height</a:t>
            </a:r>
            <a:endParaRPr lang="en-US" sz="1000" dirty="0"/>
          </a:p>
        </p:txBody>
      </p:sp>
      <p:sp>
        <p:nvSpPr>
          <p:cNvPr id="14" name="Shape 12"/>
          <p:cNvSpPr/>
          <p:nvPr/>
        </p:nvSpPr>
        <p:spPr>
          <a:xfrm>
            <a:off x="6217920" y="1051560"/>
            <a:ext cx="2651760" cy="1828800"/>
          </a:xfrm>
          <a:prstGeom prst="roundRect">
            <a:avLst>
              <a:gd name="adj" fmla="val 9000"/>
            </a:avLst>
          </a:prstGeom>
          <a:solidFill>
            <a:srgbClr val="F7F5F1"/>
          </a:solidFill>
          <a:ln w="6350">
            <a:solidFill>
              <a:srgbClr val="EAE5DE"/>
            </a:solidFill>
            <a:prstDash val="solid"/>
          </a:ln>
        </p:spPr>
      </p:sp>
      <p:sp>
        <p:nvSpPr>
          <p:cNvPr id="15" name="Text 13"/>
          <p:cNvSpPr txBox="1"/>
          <p:nvPr/>
        </p:nvSpPr>
        <p:spPr>
          <a:xfrm>
            <a:off x="6400800" y="1188720"/>
            <a:ext cx="2286000" cy="292608"/>
          </a:xfrm>
          <a:prstGeom prst="rect">
            <a:avLst/>
          </a:prstGeom>
          <a:noFill/>
          <a:ln/>
        </p:spPr>
        <p:txBody>
          <a:bodyPr wrap="square" lIns="0" tIns="0" rIns="0" bIns="0" rtlCol="0" anchor="ctr"/>
          <a:lstStyle/>
          <a:p>
            <a:pPr indent="0" marL="0">
              <a:buNone/>
            </a:pPr>
            <a:r>
              <a:rPr lang="en-US" sz="1500" b="1" dirty="0">
                <a:solidFill>
                  <a:srgbClr val="1C1C1E"/>
                </a:solidFill>
                <a:latin typeface="Calibri" pitchFamily="34" charset="0"/>
                <a:ea typeface="Calibri" pitchFamily="34" charset="-122"/>
                <a:cs typeface="Calibri" pitchFamily="34" charset="-120"/>
              </a:rPr>
              <a:t>Tescan</a:t>
            </a:r>
            <a:endParaRPr lang="en-US" sz="1500" dirty="0"/>
          </a:p>
        </p:txBody>
      </p:sp>
      <p:sp>
        <p:nvSpPr>
          <p:cNvPr id="16" name="Text 14"/>
          <p:cNvSpPr txBox="1"/>
          <p:nvPr/>
        </p:nvSpPr>
        <p:spPr>
          <a:xfrm>
            <a:off x="6400800" y="1508760"/>
            <a:ext cx="2286000" cy="502920"/>
          </a:xfrm>
          <a:prstGeom prst="rect">
            <a:avLst/>
          </a:prstGeom>
          <a:noFill/>
          <a:ln/>
        </p:spPr>
        <p:txBody>
          <a:bodyPr wrap="square" lIns="0" tIns="0" rIns="0" bIns="0" rtlCol="0" anchor="ctr"/>
          <a:lstStyle/>
          <a:p>
            <a:pPr indent="0" marL="0">
              <a:buNone/>
            </a:pPr>
            <a:r>
              <a:rPr lang="en-US" sz="1050" b="1" dirty="0">
                <a:solidFill>
                  <a:srgbClr val="B56A2A"/>
                </a:solidFill>
                <a:latin typeface="Calibri" pitchFamily="34" charset="0"/>
                <a:ea typeface="Calibri" pitchFamily="34" charset="-122"/>
                <a:cs typeface="Calibri" pitchFamily="34" charset="-120"/>
              </a:rPr>
              <a:t>Sidecar .hdr file, standard INI format</a:t>
            </a:r>
            <a:endParaRPr lang="en-US" sz="1050" dirty="0"/>
          </a:p>
        </p:txBody>
      </p:sp>
      <p:sp>
        <p:nvSpPr>
          <p:cNvPr id="17" name="Text 15"/>
          <p:cNvSpPr txBox="1"/>
          <p:nvPr/>
        </p:nvSpPr>
        <p:spPr>
          <a:xfrm>
            <a:off x="6400800" y="2029968"/>
            <a:ext cx="2286000" cy="731520"/>
          </a:xfrm>
          <a:prstGeom prst="rect">
            <a:avLst/>
          </a:prstGeom>
          <a:noFill/>
          <a:ln/>
        </p:spPr>
        <p:txBody>
          <a:bodyPr wrap="square" lIns="0" tIns="0" rIns="0" bIns="0" rtlCol="0" anchor="ctr"/>
          <a:lstStyle/>
          <a:p>
            <a:pPr indent="0" marL="0">
              <a:buNone/>
            </a:pPr>
            <a:r>
              <a:rPr lang="en-US" sz="1000" dirty="0">
                <a:solidFill>
                  <a:srgbClr val="4A4A4E"/>
                </a:solidFill>
                <a:latin typeface="Calibri" pitchFamily="34" charset="0"/>
                <a:ea typeface="Calibri" pitchFamily="34" charset="-122"/>
                <a:cs typeface="Calibri" pitchFamily="34" charset="-120"/>
              </a:rPr>
              <a:t>PixelSizeX directly in metres. 16-bit image data — handled throughout pipeline</a:t>
            </a:r>
            <a:endParaRPr lang="en-US" sz="1000" dirty="0"/>
          </a:p>
        </p:txBody>
      </p:sp>
      <p:sp>
        <p:nvSpPr>
          <p:cNvPr id="18" name="Shape 16"/>
          <p:cNvSpPr/>
          <p:nvPr/>
        </p:nvSpPr>
        <p:spPr>
          <a:xfrm>
            <a:off x="457200" y="3017520"/>
            <a:ext cx="8229600" cy="1234440"/>
          </a:xfrm>
          <a:prstGeom prst="roundRect">
            <a:avLst>
              <a:gd name="adj" fmla="val 13333"/>
            </a:avLst>
          </a:prstGeom>
          <a:solidFill>
            <a:srgbClr val="FFF8F2"/>
          </a:solidFill>
          <a:ln w="6350">
            <a:solidFill>
              <a:srgbClr val="E8D5BC"/>
            </a:solidFill>
            <a:prstDash val="solid"/>
          </a:ln>
        </p:spPr>
      </p:sp>
      <p:sp>
        <p:nvSpPr>
          <p:cNvPr id="19" name="Text 17"/>
          <p:cNvSpPr txBox="1"/>
          <p:nvPr/>
        </p:nvSpPr>
        <p:spPr>
          <a:xfrm>
            <a:off x="685800" y="3108960"/>
            <a:ext cx="7772400" cy="201168"/>
          </a:xfrm>
          <a:prstGeom prst="rect">
            <a:avLst/>
          </a:prstGeom>
          <a:noFill/>
          <a:ln/>
        </p:spPr>
        <p:txBody>
          <a:bodyPr wrap="square" lIns="0" tIns="0" rIns="0" bIns="0" rtlCol="0" anchor="ctr"/>
          <a:lstStyle/>
          <a:p>
            <a:pPr indent="0" marL="0">
              <a:buNone/>
            </a:pPr>
            <a:r>
              <a:rPr lang="en-US" sz="900" b="1" spc="100" kern="0" dirty="0">
                <a:solidFill>
                  <a:srgbClr val="B56A2A"/>
                </a:solidFill>
                <a:latin typeface="Calibri" pitchFamily="34" charset="0"/>
                <a:ea typeface="Calibri" pitchFamily="34" charset="-122"/>
                <a:cs typeface="Calibri" pitchFamily="34" charset="-120"/>
              </a:rPr>
              <a:t>Design decision — why operator judgment is required</a:t>
            </a:r>
            <a:endParaRPr lang="en-US" sz="900" dirty="0"/>
          </a:p>
        </p:txBody>
      </p:sp>
      <p:sp>
        <p:nvSpPr>
          <p:cNvPr id="20" name="Text 18"/>
          <p:cNvSpPr txBox="1"/>
          <p:nvPr/>
        </p:nvSpPr>
        <p:spPr>
          <a:xfrm>
            <a:off x="685800" y="3355848"/>
            <a:ext cx="7772400" cy="804672"/>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Otsu thresholding worked well on one real JEOL image and failed in two different ways on others — texture confusion on a Tescan image (which turned out to be real magnetic domain contrast, confirmed by Kerr microscopy), and noise confusion on Zeiss. A pipeline that pretends to automate a judgment it cannot reliably make is worse than one honest about its limits. The tool suggests Otsu as a starting point; the operator adjusts and saves the confirmed result.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01168"/>
          </a:xfrm>
          <a:prstGeom prst="rect">
            <a:avLst/>
          </a:prstGeom>
          <a:noFill/>
          <a:ln/>
        </p:spPr>
        <p:txBody>
          <a:bodyPr wrap="square" lIns="0" tIns="0" rIns="0" bIns="0" rtlCol="0" anchor="ctr"/>
          <a:lstStyle/>
          <a:p>
            <a:pPr indent="0" marL="0">
              <a:buNone/>
            </a:pPr>
            <a:r>
              <a:rPr lang="en-US" sz="800" b="1" spc="300" kern="0" dirty="0">
                <a:solidFill>
                  <a:srgbClr val="B56A2A"/>
                </a:solidFill>
                <a:latin typeface="Calibri" pitchFamily="34" charset="0"/>
                <a:ea typeface="Calibri" pitchFamily="34" charset="-122"/>
                <a:cs typeface="Calibri" pitchFamily="34" charset="-120"/>
              </a:rPr>
              <a:t>INTERACTIVE TOOLS</a:t>
            </a:r>
            <a:endParaRPr lang="en-US" sz="800" dirty="0"/>
          </a:p>
        </p:txBody>
      </p:sp>
      <p:sp>
        <p:nvSpPr>
          <p:cNvPr id="3" name="Text 1"/>
          <p:cNvSpPr txBox="1"/>
          <p:nvPr/>
        </p:nvSpPr>
        <p:spPr>
          <a:xfrm>
            <a:off x="457200" y="594360"/>
            <a:ext cx="8229600" cy="594360"/>
          </a:xfrm>
          <a:prstGeom prst="rect">
            <a:avLst/>
          </a:prstGeom>
          <a:noFill/>
          <a:ln/>
        </p:spPr>
        <p:txBody>
          <a:bodyPr wrap="square" lIns="0" tIns="0" rIns="0" bIns="0" rtlCol="0" anchor="ctr"/>
          <a:lstStyle/>
          <a:p>
            <a:pPr indent="0" marL="0">
              <a:buNone/>
            </a:pPr>
            <a:r>
              <a:rPr lang="en-US" sz="3000" b="1" dirty="0">
                <a:solidFill>
                  <a:srgbClr val="1C1C1E"/>
                </a:solidFill>
                <a:latin typeface="Georgia" pitchFamily="34" charset="0"/>
                <a:ea typeface="Georgia" pitchFamily="34" charset="-122"/>
                <a:cs typeface="Georgia" pitchFamily="34" charset="-120"/>
              </a:rPr>
              <a:t>Operator in the loop — Save to DB</a:t>
            </a:r>
            <a:endParaRPr lang="en-US" sz="3000" dirty="0"/>
          </a:p>
        </p:txBody>
      </p:sp>
      <p:sp>
        <p:nvSpPr>
          <p:cNvPr id="4" name="Text 2"/>
          <p:cNvSpPr txBox="1"/>
          <p:nvPr/>
        </p:nvSpPr>
        <p:spPr>
          <a:xfrm>
            <a:off x="457200" y="1261872"/>
            <a:ext cx="8229600" cy="502920"/>
          </a:xfrm>
          <a:prstGeom prst="rect">
            <a:avLst/>
          </a:prstGeom>
          <a:noFill/>
          <a:ln/>
        </p:spPr>
        <p:txBody>
          <a:bodyPr wrap="square" lIns="0" tIns="0" rIns="0" bIns="0" rtlCol="0" anchor="ctr"/>
          <a:lstStyle/>
          <a:p>
            <a:pPr indent="0" marL="0">
              <a:buNone/>
            </a:pPr>
            <a:r>
              <a:rPr lang="en-US" sz="1250" dirty="0">
                <a:solidFill>
                  <a:srgbClr val="4A4A4E"/>
                </a:solidFill>
                <a:latin typeface="Calibri" pitchFamily="34" charset="0"/>
                <a:ea typeface="Calibri" pitchFamily="34" charset="-122"/>
                <a:cs typeface="Calibri" pitchFamily="34" charset="-120"/>
              </a:rPr>
              <a:t>Three standalone tools, each launched from the Data Viewer with the file pre-loaded and auto-analysed. Operator reviews, adjusts, and saves confirmed results to the database. No manual transcription.</a:t>
            </a:r>
            <a:endParaRPr lang="en-US" sz="1250" dirty="0"/>
          </a:p>
        </p:txBody>
      </p:sp>
      <p:sp>
        <p:nvSpPr>
          <p:cNvPr id="5" name="Shape 3"/>
          <p:cNvSpPr/>
          <p:nvPr/>
        </p:nvSpPr>
        <p:spPr>
          <a:xfrm>
            <a:off x="320040" y="1783080"/>
            <a:ext cx="1005840" cy="365760"/>
          </a:xfrm>
          <a:prstGeom prst="roundRect">
            <a:avLst>
              <a:gd name="adj" fmla="val 25000"/>
            </a:avLst>
          </a:prstGeom>
          <a:solidFill>
            <a:srgbClr val="F7F5F1"/>
          </a:solidFill>
          <a:ln w="6350">
            <a:solidFill>
              <a:srgbClr val="EAE5DE"/>
            </a:solidFill>
            <a:prstDash val="solid"/>
          </a:ln>
        </p:spPr>
      </p:sp>
      <p:sp>
        <p:nvSpPr>
          <p:cNvPr id="6" name="Text 4"/>
          <p:cNvSpPr txBox="1"/>
          <p:nvPr/>
        </p:nvSpPr>
        <p:spPr>
          <a:xfrm>
            <a:off x="338328" y="1828800"/>
            <a:ext cx="969264" cy="274320"/>
          </a:xfrm>
          <a:prstGeom prst="rect">
            <a:avLst/>
          </a:prstGeom>
          <a:noFill/>
          <a:ln/>
        </p:spPr>
        <p:txBody>
          <a:bodyPr wrap="square" lIns="0" tIns="0" rIns="0" bIns="0" rtlCol="0" anchor="ctr"/>
          <a:lstStyle/>
          <a:p>
            <a:pPr algn="ctr" indent="0" marL="0">
              <a:buNone/>
            </a:pPr>
            <a:r>
              <a:rPr lang="en-US" sz="1000" b="1" dirty="0">
                <a:solidFill>
                  <a:srgbClr val="1C1C1E"/>
                </a:solidFill>
                <a:latin typeface="Calibri" pitchFamily="34" charset="0"/>
                <a:ea typeface="Calibri" pitchFamily="34" charset="-122"/>
                <a:cs typeface="Calibri" pitchFamily="34" charset="-120"/>
              </a:rPr>
              <a:t>Data Viewer</a:t>
            </a:r>
            <a:endParaRPr lang="en-US" sz="1000" dirty="0"/>
          </a:p>
        </p:txBody>
      </p:sp>
      <p:sp>
        <p:nvSpPr>
          <p:cNvPr id="7" name="Text 5"/>
          <p:cNvSpPr txBox="1"/>
          <p:nvPr/>
        </p:nvSpPr>
        <p:spPr>
          <a:xfrm>
            <a:off x="1463040" y="1874520"/>
            <a:ext cx="320040" cy="274320"/>
          </a:xfrm>
          <a:prstGeom prst="rect">
            <a:avLst/>
          </a:prstGeom>
          <a:noFill/>
          <a:ln/>
        </p:spPr>
        <p:txBody>
          <a:bodyPr wrap="square" lIns="0" tIns="0" rIns="0" bIns="0" rtlCol="0" anchor="ctr"/>
          <a:lstStyle/>
          <a:p>
            <a:pPr algn="ctr" indent="0" marL="0">
              <a:buNone/>
            </a:pPr>
            <a:r>
              <a:rPr lang="en-US" sz="1600" dirty="0">
                <a:solidFill>
                  <a:srgbClr val="B56A2A"/>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2660904" y="1783080"/>
            <a:ext cx="1005840" cy="365760"/>
          </a:xfrm>
          <a:prstGeom prst="roundRect">
            <a:avLst>
              <a:gd name="adj" fmla="val 25000"/>
            </a:avLst>
          </a:prstGeom>
          <a:solidFill>
            <a:srgbClr val="F7F5F1"/>
          </a:solidFill>
          <a:ln w="6350">
            <a:solidFill>
              <a:srgbClr val="EAE5DE"/>
            </a:solidFill>
            <a:prstDash val="solid"/>
          </a:ln>
        </p:spPr>
      </p:sp>
      <p:sp>
        <p:nvSpPr>
          <p:cNvPr id="9" name="Text 7"/>
          <p:cNvSpPr txBox="1"/>
          <p:nvPr/>
        </p:nvSpPr>
        <p:spPr>
          <a:xfrm>
            <a:off x="2679192" y="1828800"/>
            <a:ext cx="969264" cy="274320"/>
          </a:xfrm>
          <a:prstGeom prst="rect">
            <a:avLst/>
          </a:prstGeom>
          <a:noFill/>
          <a:ln/>
        </p:spPr>
        <p:txBody>
          <a:bodyPr wrap="square" lIns="0" tIns="0" rIns="0" bIns="0" rtlCol="0" anchor="ctr"/>
          <a:lstStyle/>
          <a:p>
            <a:pPr algn="ctr" indent="0" marL="0">
              <a:buNone/>
            </a:pPr>
            <a:r>
              <a:rPr lang="en-US" sz="1000" b="1" dirty="0">
                <a:solidFill>
                  <a:srgbClr val="1C1C1E"/>
                </a:solidFill>
                <a:latin typeface="Calibri" pitchFamily="34" charset="0"/>
                <a:ea typeface="Calibri" pitchFamily="34" charset="-122"/>
                <a:cs typeface="Calibri" pitchFamily="34" charset="-120"/>
              </a:rPr>
              <a:t>Pre-loaded file</a:t>
            </a:r>
            <a:endParaRPr lang="en-US" sz="1000" dirty="0"/>
          </a:p>
        </p:txBody>
      </p:sp>
      <p:sp>
        <p:nvSpPr>
          <p:cNvPr id="10" name="Text 8"/>
          <p:cNvSpPr txBox="1"/>
          <p:nvPr/>
        </p:nvSpPr>
        <p:spPr>
          <a:xfrm>
            <a:off x="3803904" y="1874520"/>
            <a:ext cx="320040" cy="274320"/>
          </a:xfrm>
          <a:prstGeom prst="rect">
            <a:avLst/>
          </a:prstGeom>
          <a:noFill/>
          <a:ln/>
        </p:spPr>
        <p:txBody>
          <a:bodyPr wrap="square" lIns="0" tIns="0" rIns="0" bIns="0" rtlCol="0" anchor="ctr"/>
          <a:lstStyle/>
          <a:p>
            <a:pPr algn="ctr" indent="0" marL="0">
              <a:buNone/>
            </a:pPr>
            <a:r>
              <a:rPr lang="en-US" sz="1600" dirty="0">
                <a:solidFill>
                  <a:srgbClr val="B56A2A"/>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5001768" y="1783080"/>
            <a:ext cx="1005840" cy="365760"/>
          </a:xfrm>
          <a:prstGeom prst="roundRect">
            <a:avLst>
              <a:gd name="adj" fmla="val 25000"/>
            </a:avLst>
          </a:prstGeom>
          <a:solidFill>
            <a:srgbClr val="F7F5F1"/>
          </a:solidFill>
          <a:ln w="6350">
            <a:solidFill>
              <a:srgbClr val="EAE5DE"/>
            </a:solidFill>
            <a:prstDash val="solid"/>
          </a:ln>
        </p:spPr>
      </p:sp>
      <p:sp>
        <p:nvSpPr>
          <p:cNvPr id="12" name="Text 10"/>
          <p:cNvSpPr txBox="1"/>
          <p:nvPr/>
        </p:nvSpPr>
        <p:spPr>
          <a:xfrm>
            <a:off x="5020056" y="1828800"/>
            <a:ext cx="969264" cy="274320"/>
          </a:xfrm>
          <a:prstGeom prst="rect">
            <a:avLst/>
          </a:prstGeom>
          <a:noFill/>
          <a:ln/>
        </p:spPr>
        <p:txBody>
          <a:bodyPr wrap="square" lIns="0" tIns="0" rIns="0" bIns="0" rtlCol="0" anchor="ctr"/>
          <a:lstStyle/>
          <a:p>
            <a:pPr algn="ctr" indent="0" marL="0">
              <a:buNone/>
            </a:pPr>
            <a:r>
              <a:rPr lang="en-US" sz="1000" b="1" dirty="0">
                <a:solidFill>
                  <a:srgbClr val="1C1C1E"/>
                </a:solidFill>
                <a:latin typeface="Calibri" pitchFamily="34" charset="0"/>
                <a:ea typeface="Calibri" pitchFamily="34" charset="-122"/>
                <a:cs typeface="Calibri" pitchFamily="34" charset="-120"/>
              </a:rPr>
              <a:t>Adjust params</a:t>
            </a:r>
            <a:endParaRPr lang="en-US" sz="1000" dirty="0"/>
          </a:p>
        </p:txBody>
      </p:sp>
      <p:sp>
        <p:nvSpPr>
          <p:cNvPr id="13" name="Text 11"/>
          <p:cNvSpPr txBox="1"/>
          <p:nvPr/>
        </p:nvSpPr>
        <p:spPr>
          <a:xfrm>
            <a:off x="6144768" y="1874520"/>
            <a:ext cx="320040" cy="274320"/>
          </a:xfrm>
          <a:prstGeom prst="rect">
            <a:avLst/>
          </a:prstGeom>
          <a:noFill/>
          <a:ln/>
        </p:spPr>
        <p:txBody>
          <a:bodyPr wrap="square" lIns="0" tIns="0" rIns="0" bIns="0" rtlCol="0" anchor="ctr"/>
          <a:lstStyle/>
          <a:p>
            <a:pPr algn="ctr" indent="0" marL="0">
              <a:buNone/>
            </a:pPr>
            <a:r>
              <a:rPr lang="en-US" sz="1600" dirty="0">
                <a:solidFill>
                  <a:srgbClr val="B56A2A"/>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7342632" y="1783080"/>
            <a:ext cx="1005840" cy="365760"/>
          </a:xfrm>
          <a:prstGeom prst="roundRect">
            <a:avLst>
              <a:gd name="adj" fmla="val 25000"/>
            </a:avLst>
          </a:prstGeom>
          <a:solidFill>
            <a:srgbClr val="F7F5F1"/>
          </a:solidFill>
          <a:ln w="6350">
            <a:solidFill>
              <a:srgbClr val="EAE5DE"/>
            </a:solidFill>
            <a:prstDash val="solid"/>
          </a:ln>
        </p:spPr>
      </p:sp>
      <p:sp>
        <p:nvSpPr>
          <p:cNvPr id="15" name="Text 13"/>
          <p:cNvSpPr txBox="1"/>
          <p:nvPr/>
        </p:nvSpPr>
        <p:spPr>
          <a:xfrm>
            <a:off x="7360920" y="1828800"/>
            <a:ext cx="969264" cy="274320"/>
          </a:xfrm>
          <a:prstGeom prst="rect">
            <a:avLst/>
          </a:prstGeom>
          <a:noFill/>
          <a:ln/>
        </p:spPr>
        <p:txBody>
          <a:bodyPr wrap="square" lIns="0" tIns="0" rIns="0" bIns="0" rtlCol="0" anchor="ctr"/>
          <a:lstStyle/>
          <a:p>
            <a:pPr algn="ctr" indent="0" marL="0">
              <a:buNone/>
            </a:pPr>
            <a:r>
              <a:rPr lang="en-US" sz="1000" b="1" dirty="0">
                <a:solidFill>
                  <a:srgbClr val="1C1C1E"/>
                </a:solidFill>
                <a:latin typeface="Calibri" pitchFamily="34" charset="0"/>
                <a:ea typeface="Calibri" pitchFamily="34" charset="-122"/>
                <a:cs typeface="Calibri" pitchFamily="34" charset="-120"/>
              </a:rPr>
              <a:t>💾 Save to DB</a:t>
            </a:r>
            <a:endParaRPr lang="en-US" sz="1000" dirty="0"/>
          </a:p>
        </p:txBody>
      </p:sp>
      <p:sp>
        <p:nvSpPr>
          <p:cNvPr id="16" name="Shape 14"/>
          <p:cNvSpPr/>
          <p:nvPr/>
        </p:nvSpPr>
        <p:spPr>
          <a:xfrm>
            <a:off x="457200" y="2331720"/>
            <a:ext cx="2651760" cy="2423160"/>
          </a:xfrm>
          <a:prstGeom prst="roundRect">
            <a:avLst>
              <a:gd name="adj" fmla="val 6792"/>
            </a:avLst>
          </a:prstGeom>
          <a:solidFill>
            <a:srgbClr val="F7F5F1"/>
          </a:solidFill>
          <a:ln w="6350">
            <a:solidFill>
              <a:srgbClr val="EAE5DE"/>
            </a:solidFill>
            <a:prstDash val="solid"/>
          </a:ln>
        </p:spPr>
      </p:sp>
      <p:sp>
        <p:nvSpPr>
          <p:cNvPr id="17" name="Shape 15"/>
          <p:cNvSpPr/>
          <p:nvPr/>
        </p:nvSpPr>
        <p:spPr>
          <a:xfrm>
            <a:off x="640080" y="2496312"/>
            <a:ext cx="640080" cy="201168"/>
          </a:xfrm>
          <a:prstGeom prst="roundRect">
            <a:avLst>
              <a:gd name="adj" fmla="val 50000"/>
            </a:avLst>
          </a:prstGeom>
          <a:solidFill>
            <a:srgbClr val="B56A2A"/>
          </a:solidFill>
          <a:ln w="12700">
            <a:solidFill>
              <a:srgbClr val="B56A2A"/>
            </a:solidFill>
            <a:prstDash val="solid"/>
          </a:ln>
        </p:spPr>
      </p:sp>
      <p:sp>
        <p:nvSpPr>
          <p:cNvPr id="18" name="Text 16"/>
          <p:cNvSpPr txBox="1"/>
          <p:nvPr/>
        </p:nvSpPr>
        <p:spPr>
          <a:xfrm>
            <a:off x="658368" y="2514600"/>
            <a:ext cx="60350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XRD</a:t>
            </a:r>
            <a:endParaRPr lang="en-US" sz="800" dirty="0"/>
          </a:p>
        </p:txBody>
      </p:sp>
      <p:sp>
        <p:nvSpPr>
          <p:cNvPr id="19" name="Text 17"/>
          <p:cNvSpPr txBox="1"/>
          <p:nvPr/>
        </p:nvSpPr>
        <p:spPr>
          <a:xfrm>
            <a:off x="640080" y="2807208"/>
            <a:ext cx="2286000" cy="274320"/>
          </a:xfrm>
          <a:prstGeom prst="rect">
            <a:avLst/>
          </a:prstGeom>
          <a:noFill/>
          <a:ln/>
        </p:spPr>
        <p:txBody>
          <a:bodyPr wrap="square" lIns="0" tIns="0" rIns="0" bIns="0"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XRD Analyzer</a:t>
            </a:r>
            <a:endParaRPr lang="en-US" sz="1300" dirty="0"/>
          </a:p>
        </p:txBody>
      </p:sp>
      <p:sp>
        <p:nvSpPr>
          <p:cNvPr id="20" name="Text 18"/>
          <p:cNvSpPr txBox="1"/>
          <p:nvPr/>
        </p:nvSpPr>
        <p:spPr>
          <a:xfrm>
            <a:off x="640080" y="3127248"/>
            <a:ext cx="2286000" cy="347472"/>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Live prominence/distance controls</a:t>
            </a:r>
            <a:endParaRPr lang="en-US" sz="1050" dirty="0"/>
          </a:p>
        </p:txBody>
      </p:sp>
      <p:sp>
        <p:nvSpPr>
          <p:cNvPr id="21" name="Text 19"/>
          <p:cNvSpPr txBox="1"/>
          <p:nvPr/>
        </p:nvSpPr>
        <p:spPr>
          <a:xfrm>
            <a:off x="640080" y="3511296"/>
            <a:ext cx="2286000" cy="347472"/>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Per-peak accept/reject checkboxes</a:t>
            </a:r>
            <a:endParaRPr lang="en-US" sz="1050" dirty="0"/>
          </a:p>
        </p:txBody>
      </p:sp>
      <p:sp>
        <p:nvSpPr>
          <p:cNvPr id="22" name="Text 20"/>
          <p:cNvSpPr txBox="1"/>
          <p:nvPr/>
        </p:nvSpPr>
        <p:spPr>
          <a:xfrm>
            <a:off x="640080" y="3895344"/>
            <a:ext cx="2286000" cy="347472"/>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Mean R² recalculated from accepted peaks only</a:t>
            </a:r>
            <a:endParaRPr lang="en-US" sz="1050" dirty="0"/>
          </a:p>
        </p:txBody>
      </p:sp>
      <p:sp>
        <p:nvSpPr>
          <p:cNvPr id="23" name="Text 21"/>
          <p:cNvSpPr txBox="1"/>
          <p:nvPr/>
        </p:nvSpPr>
        <p:spPr>
          <a:xfrm>
            <a:off x="640080" y="4279392"/>
            <a:ext cx="2286000" cy="347472"/>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Save replaces previous analysis for that sample</a:t>
            </a:r>
            <a:endParaRPr lang="en-US" sz="1050" dirty="0"/>
          </a:p>
        </p:txBody>
      </p:sp>
      <p:sp>
        <p:nvSpPr>
          <p:cNvPr id="24" name="Shape 22"/>
          <p:cNvSpPr/>
          <p:nvPr/>
        </p:nvSpPr>
        <p:spPr>
          <a:xfrm>
            <a:off x="3337560" y="2331720"/>
            <a:ext cx="2651760" cy="2423160"/>
          </a:xfrm>
          <a:prstGeom prst="roundRect">
            <a:avLst>
              <a:gd name="adj" fmla="val 6792"/>
            </a:avLst>
          </a:prstGeom>
          <a:solidFill>
            <a:srgbClr val="F7F5F1"/>
          </a:solidFill>
          <a:ln w="6350">
            <a:solidFill>
              <a:srgbClr val="EAE5DE"/>
            </a:solidFill>
            <a:prstDash val="solid"/>
          </a:ln>
        </p:spPr>
      </p:sp>
      <p:sp>
        <p:nvSpPr>
          <p:cNvPr id="25" name="Shape 23"/>
          <p:cNvSpPr/>
          <p:nvPr/>
        </p:nvSpPr>
        <p:spPr>
          <a:xfrm>
            <a:off x="3520440" y="2496312"/>
            <a:ext cx="640080" cy="201168"/>
          </a:xfrm>
          <a:prstGeom prst="roundRect">
            <a:avLst>
              <a:gd name="adj" fmla="val 50000"/>
            </a:avLst>
          </a:prstGeom>
          <a:solidFill>
            <a:srgbClr val="B56A2A"/>
          </a:solidFill>
          <a:ln w="12700">
            <a:solidFill>
              <a:srgbClr val="B56A2A"/>
            </a:solidFill>
            <a:prstDash val="solid"/>
          </a:ln>
        </p:spPr>
      </p:sp>
      <p:sp>
        <p:nvSpPr>
          <p:cNvPr id="26" name="Text 24"/>
          <p:cNvSpPr txBox="1"/>
          <p:nvPr/>
        </p:nvSpPr>
        <p:spPr>
          <a:xfrm>
            <a:off x="3538728" y="2514600"/>
            <a:ext cx="60350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VSM</a:t>
            </a:r>
            <a:endParaRPr lang="en-US" sz="800" dirty="0"/>
          </a:p>
        </p:txBody>
      </p:sp>
      <p:sp>
        <p:nvSpPr>
          <p:cNvPr id="27" name="Text 25"/>
          <p:cNvSpPr txBox="1"/>
          <p:nvPr/>
        </p:nvSpPr>
        <p:spPr>
          <a:xfrm>
            <a:off x="3520440" y="2807208"/>
            <a:ext cx="2286000" cy="274320"/>
          </a:xfrm>
          <a:prstGeom prst="rect">
            <a:avLst/>
          </a:prstGeom>
          <a:noFill/>
          <a:ln/>
        </p:spPr>
        <p:txBody>
          <a:bodyPr wrap="square" lIns="0" tIns="0" rIns="0" bIns="0"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VSM MH Analyzer</a:t>
            </a:r>
            <a:endParaRPr lang="en-US" sz="1300" dirty="0"/>
          </a:p>
        </p:txBody>
      </p:sp>
      <p:sp>
        <p:nvSpPr>
          <p:cNvPr id="28" name="Text 26"/>
          <p:cNvSpPr txBox="1"/>
          <p:nvPr/>
        </p:nvSpPr>
        <p:spPr>
          <a:xfrm>
            <a:off x="3520440" y="3127248"/>
            <a:ext cx="2286000" cy="347472"/>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Full multi-segment file loaded automatically</a:t>
            </a:r>
            <a:endParaRPr lang="en-US" sz="1050" dirty="0"/>
          </a:p>
        </p:txBody>
      </p:sp>
      <p:sp>
        <p:nvSpPr>
          <p:cNvPr id="29" name="Text 27"/>
          <p:cNvSpPr txBox="1"/>
          <p:nvPr/>
        </p:nvSpPr>
        <p:spPr>
          <a:xfrm>
            <a:off x="3520440" y="3511296"/>
            <a:ext cx="2286000" cy="347472"/>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Adjustable branch-detection sensitivity</a:t>
            </a:r>
            <a:endParaRPr lang="en-US" sz="1050" dirty="0"/>
          </a:p>
        </p:txBody>
      </p:sp>
      <p:sp>
        <p:nvSpPr>
          <p:cNvPr id="30" name="Text 28"/>
          <p:cNvSpPr txBox="1"/>
          <p:nvPr/>
        </p:nvSpPr>
        <p:spPr>
          <a:xfrm>
            <a:off x="3520440" y="3895344"/>
            <a:ext cx="2286000" cy="347472"/>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Per-segment accept/reject</a:t>
            </a:r>
            <a:endParaRPr lang="en-US" sz="1050" dirty="0"/>
          </a:p>
        </p:txBody>
      </p:sp>
      <p:sp>
        <p:nvSpPr>
          <p:cNvPr id="31" name="Text 29"/>
          <p:cNvSpPr txBox="1"/>
          <p:nvPr/>
        </p:nvSpPr>
        <p:spPr>
          <a:xfrm>
            <a:off x="3520440" y="4279392"/>
            <a:ext cx="2286000" cy="347472"/>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Save updates Hc/Mr for confirmed segments</a:t>
            </a:r>
            <a:endParaRPr lang="en-US" sz="1050" dirty="0"/>
          </a:p>
        </p:txBody>
      </p:sp>
      <p:sp>
        <p:nvSpPr>
          <p:cNvPr id="32" name="Shape 30"/>
          <p:cNvSpPr/>
          <p:nvPr/>
        </p:nvSpPr>
        <p:spPr>
          <a:xfrm>
            <a:off x="6217920" y="2331720"/>
            <a:ext cx="2651760" cy="2423160"/>
          </a:xfrm>
          <a:prstGeom prst="roundRect">
            <a:avLst>
              <a:gd name="adj" fmla="val 6792"/>
            </a:avLst>
          </a:prstGeom>
          <a:solidFill>
            <a:srgbClr val="F7F5F1"/>
          </a:solidFill>
          <a:ln w="6350">
            <a:solidFill>
              <a:srgbClr val="EAE5DE"/>
            </a:solidFill>
            <a:prstDash val="solid"/>
          </a:ln>
        </p:spPr>
      </p:sp>
      <p:sp>
        <p:nvSpPr>
          <p:cNvPr id="33" name="Shape 31"/>
          <p:cNvSpPr/>
          <p:nvPr/>
        </p:nvSpPr>
        <p:spPr>
          <a:xfrm>
            <a:off x="6400800" y="2496312"/>
            <a:ext cx="640080" cy="201168"/>
          </a:xfrm>
          <a:prstGeom prst="roundRect">
            <a:avLst>
              <a:gd name="adj" fmla="val 50000"/>
            </a:avLst>
          </a:prstGeom>
          <a:solidFill>
            <a:srgbClr val="B56A2A"/>
          </a:solidFill>
          <a:ln w="12700">
            <a:solidFill>
              <a:srgbClr val="B56A2A"/>
            </a:solidFill>
            <a:prstDash val="solid"/>
          </a:ln>
        </p:spPr>
      </p:sp>
      <p:sp>
        <p:nvSpPr>
          <p:cNvPr id="34" name="Text 32"/>
          <p:cNvSpPr txBox="1"/>
          <p:nvPr/>
        </p:nvSpPr>
        <p:spPr>
          <a:xfrm>
            <a:off x="6419088" y="2514600"/>
            <a:ext cx="60350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SEM</a:t>
            </a:r>
            <a:endParaRPr lang="en-US" sz="800" dirty="0"/>
          </a:p>
        </p:txBody>
      </p:sp>
      <p:sp>
        <p:nvSpPr>
          <p:cNvPr id="35" name="Text 33"/>
          <p:cNvSpPr txBox="1"/>
          <p:nvPr/>
        </p:nvSpPr>
        <p:spPr>
          <a:xfrm>
            <a:off x="6400800" y="2807208"/>
            <a:ext cx="2286000" cy="274320"/>
          </a:xfrm>
          <a:prstGeom prst="rect">
            <a:avLst/>
          </a:prstGeom>
          <a:noFill/>
          <a:ln/>
        </p:spPr>
        <p:txBody>
          <a:bodyPr wrap="square" lIns="0" tIns="0" rIns="0" bIns="0"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Phase Fraction</a:t>
            </a:r>
            <a:endParaRPr lang="en-US" sz="1300" dirty="0"/>
          </a:p>
        </p:txBody>
      </p:sp>
      <p:sp>
        <p:nvSpPr>
          <p:cNvPr id="36" name="Text 34"/>
          <p:cNvSpPr txBox="1"/>
          <p:nvPr/>
        </p:nvSpPr>
        <p:spPr>
          <a:xfrm>
            <a:off x="6400800" y="3127248"/>
            <a:ext cx="2286000" cy="347472"/>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Otsu threshold as starting suggestion only</a:t>
            </a:r>
            <a:endParaRPr lang="en-US" sz="1050" dirty="0"/>
          </a:p>
        </p:txBody>
      </p:sp>
      <p:sp>
        <p:nvSpPr>
          <p:cNvPr id="37" name="Text 35"/>
          <p:cNvSpPr txBox="1"/>
          <p:nvPr/>
        </p:nvSpPr>
        <p:spPr>
          <a:xfrm>
            <a:off x="6400800" y="3511296"/>
            <a:ext cx="2286000" cy="347472"/>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Live slider, optional phase invert</a:t>
            </a:r>
            <a:endParaRPr lang="en-US" sz="1050" dirty="0"/>
          </a:p>
        </p:txBody>
      </p:sp>
      <p:sp>
        <p:nvSpPr>
          <p:cNvPr id="38" name="Text 36"/>
          <p:cNvSpPr txBox="1"/>
          <p:nvPr/>
        </p:nvSpPr>
        <p:spPr>
          <a:xfrm>
            <a:off x="6400800" y="3895344"/>
            <a:ext cx="2286000" cy="347472"/>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Calibrated area readout in µm²</a:t>
            </a:r>
            <a:endParaRPr lang="en-US" sz="1050" dirty="0"/>
          </a:p>
        </p:txBody>
      </p:sp>
      <p:sp>
        <p:nvSpPr>
          <p:cNvPr id="39" name="Text 37"/>
          <p:cNvSpPr txBox="1"/>
          <p:nvPr/>
        </p:nvSpPr>
        <p:spPr>
          <a:xfrm>
            <a:off x="6400800" y="4279392"/>
            <a:ext cx="2286000" cy="347472"/>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Save stores operator-confirmed result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1E20"/>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01168"/>
          </a:xfrm>
          <a:prstGeom prst="rect">
            <a:avLst/>
          </a:prstGeom>
          <a:noFill/>
          <a:ln/>
        </p:spPr>
        <p:txBody>
          <a:bodyPr wrap="square" lIns="0" tIns="0" rIns="0" bIns="0" rtlCol="0" anchor="ctr"/>
          <a:lstStyle/>
          <a:p>
            <a:pPr indent="0" marL="0">
              <a:buNone/>
            </a:pPr>
            <a:r>
              <a:rPr lang="en-US" sz="800" b="1" spc="300" kern="0" dirty="0">
                <a:solidFill>
                  <a:srgbClr val="B56A2A"/>
                </a:solidFill>
                <a:latin typeface="Calibri" pitchFamily="34" charset="0"/>
                <a:ea typeface="Calibri" pitchFamily="34" charset="-122"/>
                <a:cs typeface="Calibri" pitchFamily="34" charset="-120"/>
              </a:rPr>
              <a:t>DATABASE SCHEMA</a:t>
            </a:r>
            <a:endParaRPr lang="en-US" sz="800" dirty="0"/>
          </a:p>
        </p:txBody>
      </p:sp>
      <p:sp>
        <p:nvSpPr>
          <p:cNvPr id="3" name="Text 1"/>
          <p:cNvSpPr txBox="1"/>
          <p:nvPr/>
        </p:nvSpPr>
        <p:spPr>
          <a:xfrm>
            <a:off x="457200" y="59436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16 tables — designed for machine learning from the start</a:t>
            </a:r>
            <a:endParaRPr lang="en-US" sz="2600" dirty="0"/>
          </a:p>
        </p:txBody>
      </p:sp>
      <p:sp>
        <p:nvSpPr>
          <p:cNvPr id="4" name="Shape 2"/>
          <p:cNvSpPr/>
          <p:nvPr/>
        </p:nvSpPr>
        <p:spPr>
          <a:xfrm>
            <a:off x="457200" y="1234440"/>
            <a:ext cx="5212080" cy="3383280"/>
          </a:xfrm>
          <a:prstGeom prst="roundRect">
            <a:avLst>
              <a:gd name="adj" fmla="val 5405"/>
            </a:avLst>
          </a:prstGeom>
          <a:solidFill>
            <a:srgbClr val="1B1B1D"/>
          </a:solidFill>
          <a:ln w="6350">
            <a:solidFill>
              <a:srgbClr val="333333"/>
            </a:solidFill>
            <a:prstDash val="solid"/>
          </a:ln>
        </p:spPr>
      </p:sp>
      <p:sp>
        <p:nvSpPr>
          <p:cNvPr id="5" name="Text 3"/>
          <p:cNvSpPr txBox="1"/>
          <p:nvPr/>
        </p:nvSpPr>
        <p:spPr>
          <a:xfrm>
            <a:off x="640080" y="1371600"/>
            <a:ext cx="4846320" cy="3108960"/>
          </a:xfrm>
          <a:prstGeom prst="rect">
            <a:avLst/>
          </a:prstGeom>
          <a:noFill/>
          <a:ln/>
        </p:spPr>
        <p:txBody>
          <a:bodyPr wrap="square" lIns="0" tIns="0" rIns="0" bIns="0" rtlCol="0" anchor="ctr"/>
          <a:lstStyle/>
          <a:p>
            <a:pPr indent="0" marL="0">
              <a:buNone/>
            </a:pPr>
            <a:r>
              <a:rPr lang="en-US" sz="950" dirty="0">
                <a:solidFill>
                  <a:srgbClr val="ECE7E0"/>
                </a:solidFill>
                <a:latin typeface="Courier New" pitchFamily="34" charset="0"/>
                <a:ea typeface="Courier New" pitchFamily="34" charset="-122"/>
                <a:cs typeface="Courier New" pitchFamily="34" charset="-120"/>
              </a:rPr>
              <a:t>alloy_lab (PostgreSQL 17)</a:t>
            </a:r>
            <a:endParaRPr lang="en-US" sz="950" dirty="0"/>
          </a:p>
          <a:p>
            <a:pPr indent="0" marL="0">
              <a:buNone/>
            </a:pPr>
            <a:r>
              <a:rPr lang="en-US" sz="950" dirty="0">
                <a:solidFill>
                  <a:srgbClr val="ECE7E0"/>
                </a:solidFill>
                <a:latin typeface="Courier New" pitchFamily="34" charset="0"/>
                <a:ea typeface="Courier New" pitchFamily="34" charset="-122"/>
                <a:cs typeface="Courier New" pitchFamily="34" charset="-120"/>
              </a:rPr>
              <a:t>├── samples        composition · lineage · VEC/δ/ΔH</a:t>
            </a:r>
            <a:endParaRPr lang="en-US" sz="950" dirty="0"/>
          </a:p>
          <a:p>
            <a:pPr indent="0" marL="0">
              <a:buNone/>
            </a:pPr>
            <a:r>
              <a:rPr lang="en-US" sz="950" dirty="0">
                <a:solidFill>
                  <a:srgbClr val="ECE7E0"/>
                </a:solidFill>
                <a:latin typeface="Courier New" pitchFamily="34" charset="0"/>
                <a:ea typeface="Courier New" pitchFamily="34" charset="-122"/>
                <a:cs typeface="Courier New" pitchFamily="34" charset="-120"/>
              </a:rPr>
              <a:t>├── compositions   wt% + at% · aimed/measured/ref</a:t>
            </a:r>
            <a:endParaRPr lang="en-US" sz="950" dirty="0"/>
          </a:p>
          <a:p>
            <a:pPr indent="0" marL="0">
              <a:buNone/>
            </a:pPr>
            <a:r>
              <a:rPr lang="en-US" sz="950" dirty="0">
                <a:solidFill>
                  <a:srgbClr val="ECE7E0"/>
                </a:solidFill>
                <a:latin typeface="Courier New" pitchFamily="34" charset="0"/>
                <a:ea typeface="Courier New" pitchFamily="34" charset="-122"/>
                <a:cs typeface="Courier New" pitchFamily="34" charset="-120"/>
              </a:rPr>
              <a:t>├── synthesis      method · temp · atmosphere</a:t>
            </a:r>
            <a:endParaRPr lang="en-US" sz="950" dirty="0"/>
          </a:p>
          <a:p>
            <a:pPr indent="0" marL="0">
              <a:buNone/>
            </a:pPr>
            <a:r>
              <a:rPr lang="en-US" sz="950" dirty="0">
                <a:solidFill>
                  <a:srgbClr val="ECE7E0"/>
                </a:solidFill>
                <a:latin typeface="Courier New" pitchFamily="34" charset="0"/>
                <a:ea typeface="Courier New" pitchFamily="34" charset="-122"/>
                <a:cs typeface="Courier New" pitchFamily="34" charset="-120"/>
              </a:rPr>
              <a:t>├── characterization  one row per measurement</a:t>
            </a:r>
            <a:endParaRPr lang="en-US" sz="950" dirty="0"/>
          </a:p>
          <a:p>
            <a:pPr indent="0" marL="0">
              <a:buNone/>
            </a:pPr>
            <a:r>
              <a:rPr lang="en-US" sz="950" dirty="0">
                <a:solidFill>
                  <a:srgbClr val="ECE7E0"/>
                </a:solidFill>
                <a:latin typeface="Courier New" pitchFamily="34" charset="0"/>
                <a:ea typeface="Courier New" pitchFamily="34" charset="-122"/>
                <a:cs typeface="Courier New" pitchFamily="34" charset="-120"/>
              </a:rPr>
              <a:t>├── properties     numeric results per measurement</a:t>
            </a:r>
            <a:endParaRPr lang="en-US" sz="950" dirty="0"/>
          </a:p>
          <a:p>
            <a:pPr indent="0" marL="0">
              <a:buNone/>
            </a:pPr>
            <a:r>
              <a:rPr lang="en-US" sz="950" dirty="0">
                <a:solidFill>
                  <a:srgbClr val="ECE7E0"/>
                </a:solidFill>
                <a:latin typeface="Courier New" pitchFamily="34" charset="0"/>
                <a:ea typeface="Courier New" pitchFamily="34" charset="-122"/>
                <a:cs typeface="Courier New" pitchFamily="34" charset="-120"/>
              </a:rPr>
              <a:t>├── literature_checks  MP · OQMD · Alexandria</a:t>
            </a:r>
            <a:endParaRPr lang="en-US" sz="950" dirty="0"/>
          </a:p>
          <a:p>
            <a:pPr indent="0" marL="0">
              <a:buNone/>
            </a:pPr>
            <a:r>
              <a:rPr lang="en-US" sz="950" dirty="0">
                <a:solidFill>
                  <a:srgbClr val="ECE7E0"/>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ECE7E0"/>
                </a:solidFill>
                <a:latin typeface="Courier New" pitchFamily="34" charset="0"/>
                <a:ea typeface="Courier New" pitchFamily="34" charset="-122"/>
                <a:cs typeface="Courier New" pitchFamily="34" charset="-120"/>
              </a:rPr>
              <a:t>├── xrd_peaks      one row per fitted peak</a:t>
            </a:r>
            <a:endParaRPr lang="en-US" sz="950" dirty="0"/>
          </a:p>
          <a:p>
            <a:pPr indent="0" marL="0">
              <a:buNone/>
            </a:pPr>
            <a:r>
              <a:rPr lang="en-US" sz="950" dirty="0">
                <a:solidFill>
                  <a:srgbClr val="ECE7E0"/>
                </a:solidFill>
                <a:latin typeface="Courier New" pitchFamily="34" charset="0"/>
                <a:ea typeface="Courier New" pitchFamily="34" charset="-122"/>
                <a:cs typeface="Courier New" pitchFamily="34" charset="-120"/>
              </a:rPr>
              <a:t>├── xrd_features   ML-ready wide format</a:t>
            </a:r>
            <a:endParaRPr lang="en-US" sz="950" dirty="0"/>
          </a:p>
          <a:p>
            <a:pPr indent="0" marL="0">
              <a:buNone/>
            </a:pPr>
            <a:r>
              <a:rPr lang="en-US" sz="950" dirty="0">
                <a:solidFill>
                  <a:srgbClr val="ECE7E0"/>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ECE7E0"/>
                </a:solidFill>
                <a:latin typeface="Courier New" pitchFamily="34" charset="0"/>
                <a:ea typeface="Courier New" pitchFamily="34" charset="-122"/>
                <a:cs typeface="Courier New" pitchFamily="34" charset="-120"/>
              </a:rPr>
              <a:t>├── vsm_files      file-level metadata</a:t>
            </a:r>
            <a:endParaRPr lang="en-US" sz="950" dirty="0"/>
          </a:p>
          <a:p>
            <a:pPr indent="0" marL="0">
              <a:buNone/>
            </a:pPr>
            <a:r>
              <a:rPr lang="en-US" sz="950" dirty="0">
                <a:solidFill>
                  <a:srgbClr val="ECE7E0"/>
                </a:solidFill>
                <a:latin typeface="Courier New" pitchFamily="34" charset="0"/>
                <a:ea typeface="Courier New" pitchFamily="34" charset="-122"/>
                <a:cs typeface="Courier New" pitchFamily="34" charset="-120"/>
              </a:rPr>
              <a:t>├── vsm_segments   MH/MT/idle/corrupted</a:t>
            </a:r>
            <a:endParaRPr lang="en-US" sz="950" dirty="0"/>
          </a:p>
          <a:p>
            <a:pPr indent="0" marL="0">
              <a:buNone/>
            </a:pPr>
            <a:r>
              <a:rPr lang="en-US" sz="950" dirty="0">
                <a:solidFill>
                  <a:srgbClr val="ECE7E0"/>
                </a:solidFill>
                <a:latin typeface="Courier New" pitchFamily="34" charset="0"/>
                <a:ea typeface="Courier New" pitchFamily="34" charset="-122"/>
                <a:cs typeface="Courier New" pitchFamily="34" charset="-120"/>
              </a:rPr>
              <a:t>├── vsm_mh_details Hc · Mr · BHmax · flag</a:t>
            </a:r>
            <a:endParaRPr lang="en-US" sz="950" dirty="0"/>
          </a:p>
          <a:p>
            <a:pPr indent="0" marL="0">
              <a:buNone/>
            </a:pPr>
            <a:r>
              <a:rPr lang="en-US" sz="950" dirty="0">
                <a:solidFill>
                  <a:srgbClr val="ECE7E0"/>
                </a:solidFill>
                <a:latin typeface="Courier New" pitchFamily="34" charset="0"/>
                <a:ea typeface="Courier New" pitchFamily="34" charset="-122"/>
                <a:cs typeface="Courier New" pitchFamily="34" charset="-120"/>
              </a:rPr>
              <a:t>├── vsm_mt_details + vsm_mt_candidates</a:t>
            </a:r>
            <a:endParaRPr lang="en-US" sz="950" dirty="0"/>
          </a:p>
          <a:p>
            <a:pPr indent="0" marL="0">
              <a:buNone/>
            </a:pPr>
            <a:r>
              <a:rPr lang="en-US" sz="950" dirty="0">
                <a:solidFill>
                  <a:srgbClr val="ECE7E0"/>
                </a:solidFill>
                <a:latin typeface="Courier New" pitchFamily="34" charset="0"/>
                <a:ea typeface="Courier New" pitchFamily="34" charset="-122"/>
                <a:cs typeface="Courier New" pitchFamily="34" charset="-120"/>
              </a:rPr>
              <a:t>└── vsm_temperature_coefficients  α · β</a:t>
            </a:r>
            <a:endParaRPr lang="en-US" sz="950" dirty="0"/>
          </a:p>
        </p:txBody>
      </p:sp>
      <p:sp>
        <p:nvSpPr>
          <p:cNvPr id="6" name="Shape 4"/>
          <p:cNvSpPr/>
          <p:nvPr/>
        </p:nvSpPr>
        <p:spPr>
          <a:xfrm>
            <a:off x="5897880" y="1234440"/>
            <a:ext cx="2788920" cy="1600200"/>
          </a:xfrm>
          <a:prstGeom prst="roundRect">
            <a:avLst>
              <a:gd name="adj" fmla="val 10286"/>
            </a:avLst>
          </a:prstGeom>
          <a:solidFill>
            <a:srgbClr val="F7F5F1"/>
          </a:solidFill>
          <a:ln w="6350">
            <a:solidFill>
              <a:srgbClr val="EAE5DE"/>
            </a:solidFill>
            <a:prstDash val="solid"/>
          </a:ln>
        </p:spPr>
      </p:sp>
      <p:sp>
        <p:nvSpPr>
          <p:cNvPr id="7" name="Text 5"/>
          <p:cNvSpPr txBox="1"/>
          <p:nvPr/>
        </p:nvSpPr>
        <p:spPr>
          <a:xfrm>
            <a:off x="6080760" y="1371600"/>
            <a:ext cx="2468880" cy="274320"/>
          </a:xfrm>
          <a:prstGeom prst="rect">
            <a:avLst/>
          </a:prstGeom>
          <a:noFill/>
          <a:ln/>
        </p:spPr>
        <p:txBody>
          <a:bodyPr wrap="square" lIns="0" tIns="0" rIns="0" bIns="0" rtlCol="0" anchor="ctr"/>
          <a:lstStyle/>
          <a:p>
            <a:pPr indent="0" marL="0">
              <a:buNone/>
            </a:pPr>
            <a:r>
              <a:rPr lang="en-US" sz="1200" b="1" dirty="0">
                <a:solidFill>
                  <a:srgbClr val="1C1C1E"/>
                </a:solidFill>
                <a:latin typeface="Calibri" pitchFamily="34" charset="0"/>
                <a:ea typeface="Calibri" pitchFamily="34" charset="-122"/>
                <a:cs typeface="Calibri" pitchFamily="34" charset="-120"/>
              </a:rPr>
              <a:t>Feature matrix (X)</a:t>
            </a:r>
            <a:endParaRPr lang="en-US" sz="1200" dirty="0"/>
          </a:p>
        </p:txBody>
      </p:sp>
      <p:sp>
        <p:nvSpPr>
          <p:cNvPr id="8" name="Text 6"/>
          <p:cNvSpPr txBox="1"/>
          <p:nvPr/>
        </p:nvSpPr>
        <p:spPr>
          <a:xfrm>
            <a:off x="6080760" y="1709928"/>
            <a:ext cx="2468880" cy="256032"/>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Element fractions wt% + at%</a:t>
            </a:r>
            <a:endParaRPr lang="en-US" sz="1050" dirty="0"/>
          </a:p>
        </p:txBody>
      </p:sp>
      <p:sp>
        <p:nvSpPr>
          <p:cNvPr id="9" name="Text 7"/>
          <p:cNvSpPr txBox="1"/>
          <p:nvPr/>
        </p:nvSpPr>
        <p:spPr>
          <a:xfrm>
            <a:off x="6080760" y="1984248"/>
            <a:ext cx="2468880" cy="256032"/>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XRD: peak positions, widths, R²</a:t>
            </a:r>
            <a:endParaRPr lang="en-US" sz="1050" dirty="0"/>
          </a:p>
        </p:txBody>
      </p:sp>
      <p:sp>
        <p:nvSpPr>
          <p:cNvPr id="10" name="Text 8"/>
          <p:cNvSpPr txBox="1"/>
          <p:nvPr/>
        </p:nvSpPr>
        <p:spPr>
          <a:xfrm>
            <a:off x="6080760" y="2258568"/>
            <a:ext cx="2468880" cy="256032"/>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Crystallite size, d-spacing</a:t>
            </a:r>
            <a:endParaRPr lang="en-US" sz="1050" dirty="0"/>
          </a:p>
        </p:txBody>
      </p:sp>
      <p:sp>
        <p:nvSpPr>
          <p:cNvPr id="11" name="Text 9"/>
          <p:cNvSpPr txBox="1"/>
          <p:nvPr/>
        </p:nvSpPr>
        <p:spPr>
          <a:xfrm>
            <a:off x="6080760" y="2532888"/>
            <a:ext cx="2468880" cy="256032"/>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Phase fraction (SEM)</a:t>
            </a:r>
            <a:endParaRPr lang="en-US" sz="1050" dirty="0"/>
          </a:p>
        </p:txBody>
      </p:sp>
      <p:sp>
        <p:nvSpPr>
          <p:cNvPr id="12" name="Shape 10"/>
          <p:cNvSpPr/>
          <p:nvPr/>
        </p:nvSpPr>
        <p:spPr>
          <a:xfrm>
            <a:off x="5897880" y="3063240"/>
            <a:ext cx="2788920" cy="1600200"/>
          </a:xfrm>
          <a:prstGeom prst="roundRect">
            <a:avLst>
              <a:gd name="adj" fmla="val 10286"/>
            </a:avLst>
          </a:prstGeom>
          <a:solidFill>
            <a:srgbClr val="F7F5F1"/>
          </a:solidFill>
          <a:ln w="6350">
            <a:solidFill>
              <a:srgbClr val="EAE5DE"/>
            </a:solidFill>
            <a:prstDash val="solid"/>
          </a:ln>
        </p:spPr>
      </p:sp>
      <p:sp>
        <p:nvSpPr>
          <p:cNvPr id="13" name="Text 11"/>
          <p:cNvSpPr txBox="1"/>
          <p:nvPr/>
        </p:nvSpPr>
        <p:spPr>
          <a:xfrm>
            <a:off x="6080760" y="3200400"/>
            <a:ext cx="2468880" cy="274320"/>
          </a:xfrm>
          <a:prstGeom prst="rect">
            <a:avLst/>
          </a:prstGeom>
          <a:noFill/>
          <a:ln/>
        </p:spPr>
        <p:txBody>
          <a:bodyPr wrap="square" lIns="0" tIns="0" rIns="0" bIns="0" rtlCol="0" anchor="ctr"/>
          <a:lstStyle/>
          <a:p>
            <a:pPr indent="0" marL="0">
              <a:buNone/>
            </a:pPr>
            <a:r>
              <a:rPr lang="en-US" sz="1200" b="1" dirty="0">
                <a:solidFill>
                  <a:srgbClr val="1C1C1E"/>
                </a:solidFill>
                <a:latin typeface="Calibri" pitchFamily="34" charset="0"/>
                <a:ea typeface="Calibri" pitchFamily="34" charset="-122"/>
                <a:cs typeface="Calibri" pitchFamily="34" charset="-120"/>
              </a:rPr>
              <a:t>Target properties (y)</a:t>
            </a:r>
            <a:endParaRPr lang="en-US" sz="1200" dirty="0"/>
          </a:p>
        </p:txBody>
      </p:sp>
      <p:sp>
        <p:nvSpPr>
          <p:cNvPr id="14" name="Text 12"/>
          <p:cNvSpPr txBox="1"/>
          <p:nvPr/>
        </p:nvSpPr>
        <p:spPr>
          <a:xfrm>
            <a:off x="6080760" y="3538728"/>
            <a:ext cx="2468880" cy="256032"/>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Hc, Mr, BHmax</a:t>
            </a:r>
            <a:endParaRPr lang="en-US" sz="1050" dirty="0"/>
          </a:p>
        </p:txBody>
      </p:sp>
      <p:sp>
        <p:nvSpPr>
          <p:cNvPr id="15" name="Text 13"/>
          <p:cNvSpPr txBox="1"/>
          <p:nvPr/>
        </p:nvSpPr>
        <p:spPr>
          <a:xfrm>
            <a:off x="6080760" y="3813048"/>
            <a:ext cx="2468880" cy="256032"/>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Temperature coefficients α, β</a:t>
            </a:r>
            <a:endParaRPr lang="en-US" sz="1050" dirty="0"/>
          </a:p>
        </p:txBody>
      </p:sp>
      <p:sp>
        <p:nvSpPr>
          <p:cNvPr id="16" name="Text 14"/>
          <p:cNvSpPr txBox="1"/>
          <p:nvPr/>
        </p:nvSpPr>
        <p:spPr>
          <a:xfrm>
            <a:off x="6080760" y="4087368"/>
            <a:ext cx="2468880" cy="256032"/>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Entropy change ΔSm</a:t>
            </a:r>
            <a:endParaRPr lang="en-US" sz="1050" dirty="0"/>
          </a:p>
        </p:txBody>
      </p:sp>
      <p:sp>
        <p:nvSpPr>
          <p:cNvPr id="17" name="Text 15"/>
          <p:cNvSpPr txBox="1"/>
          <p:nvPr/>
        </p:nvSpPr>
        <p:spPr>
          <a:xfrm>
            <a:off x="6080760" y="4361688"/>
            <a:ext cx="2468880" cy="256032"/>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Synthesis route</a:t>
            </a:r>
            <a:endParaRPr lang="en-US" sz="1050" dirty="0"/>
          </a:p>
        </p:txBody>
      </p:sp>
      <p:sp>
        <p:nvSpPr>
          <p:cNvPr id="18" name="Text 16"/>
          <p:cNvSpPr txBox="1"/>
          <p:nvPr/>
        </p:nvSpPr>
        <p:spPr>
          <a:xfrm>
            <a:off x="5897880" y="4663440"/>
            <a:ext cx="2788920" cy="256032"/>
          </a:xfrm>
          <a:prstGeom prst="rect">
            <a:avLst/>
          </a:prstGeom>
          <a:noFill/>
          <a:ln/>
        </p:spPr>
        <p:txBody>
          <a:bodyPr wrap="square" lIns="0" tIns="0" rIns="0" bIns="0" rtlCol="0" anchor="ctr"/>
          <a:lstStyle/>
          <a:p>
            <a:pPr algn="ctr" indent="0" marL="0">
              <a:buNone/>
            </a:pPr>
            <a:r>
              <a:rPr lang="en-US" sz="1200" b="1" dirty="0">
                <a:solidFill>
                  <a:srgbClr val="D78C4A"/>
                </a:solidFill>
                <a:latin typeface="Calibri" pitchFamily="34" charset="0"/>
                <a:ea typeface="Calibri" pitchFamily="34" charset="-122"/>
                <a:cs typeface="Calibri" pitchFamily="34" charset="-120"/>
              </a:rPr>
              <a:t>→  Stage 3 ML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01168"/>
          </a:xfrm>
          <a:prstGeom prst="rect">
            <a:avLst/>
          </a:prstGeom>
          <a:noFill/>
          <a:ln/>
        </p:spPr>
        <p:txBody>
          <a:bodyPr wrap="square" lIns="0" tIns="0" rIns="0" bIns="0" rtlCol="0" anchor="ctr"/>
          <a:lstStyle/>
          <a:p>
            <a:pPr indent="0" marL="0">
              <a:buNone/>
            </a:pPr>
            <a:r>
              <a:rPr lang="en-US" sz="800" b="1" spc="300" kern="0" dirty="0">
                <a:solidFill>
                  <a:srgbClr val="B56A2A"/>
                </a:solidFill>
                <a:latin typeface="Calibri" pitchFamily="34" charset="0"/>
                <a:ea typeface="Calibri" pitchFamily="34" charset="-122"/>
                <a:cs typeface="Calibri" pitchFamily="34" charset="-120"/>
              </a:rPr>
              <a:t>RESULTS</a:t>
            </a:r>
            <a:endParaRPr lang="en-US" sz="800" dirty="0"/>
          </a:p>
        </p:txBody>
      </p:sp>
      <p:sp>
        <p:nvSpPr>
          <p:cNvPr id="3" name="Text 1"/>
          <p:cNvSpPr txBox="1"/>
          <p:nvPr/>
        </p:nvSpPr>
        <p:spPr>
          <a:xfrm>
            <a:off x="457200" y="594360"/>
            <a:ext cx="8229600" cy="594360"/>
          </a:xfrm>
          <a:prstGeom prst="rect">
            <a:avLst/>
          </a:prstGeom>
          <a:noFill/>
          <a:ln/>
        </p:spPr>
        <p:txBody>
          <a:bodyPr wrap="square" lIns="0" tIns="0" rIns="0" bIns="0" rtlCol="0" anchor="ctr"/>
          <a:lstStyle/>
          <a:p>
            <a:pPr indent="0" marL="0">
              <a:buNone/>
            </a:pPr>
            <a:r>
              <a:rPr lang="en-US" sz="3000" b="1" dirty="0">
                <a:solidFill>
                  <a:srgbClr val="1C1C1E"/>
                </a:solidFill>
                <a:latin typeface="Georgia" pitchFamily="34" charset="0"/>
                <a:ea typeface="Georgia" pitchFamily="34" charset="-122"/>
                <a:cs typeface="Georgia" pitchFamily="34" charset="-120"/>
              </a:rPr>
              <a:t>Real data, real validation — anonymised samples</a:t>
            </a:r>
            <a:endParaRPr lang="en-US" sz="3000" dirty="0"/>
          </a:p>
        </p:txBody>
      </p:sp>
      <p:sp>
        <p:nvSpPr>
          <p:cNvPr id="4" name="Shape 2"/>
          <p:cNvSpPr/>
          <p:nvPr/>
        </p:nvSpPr>
        <p:spPr>
          <a:xfrm>
            <a:off x="457200" y="1353312"/>
            <a:ext cx="8229600" cy="320040"/>
          </a:xfrm>
          <a:prstGeom prst="roundRect">
            <a:avLst>
              <a:gd name="adj" fmla="val 22857"/>
            </a:avLst>
          </a:prstGeom>
          <a:solidFill>
            <a:srgbClr val="F3F0EA"/>
          </a:solidFill>
          <a:ln w="12700">
            <a:solidFill>
              <a:srgbClr val="EAE5DE"/>
            </a:solidFill>
            <a:prstDash val="solid"/>
          </a:ln>
        </p:spPr>
      </p:sp>
      <p:sp>
        <p:nvSpPr>
          <p:cNvPr id="5" name="Text 3"/>
          <p:cNvSpPr txBox="1"/>
          <p:nvPr/>
        </p:nvSpPr>
        <p:spPr>
          <a:xfrm>
            <a:off x="548640" y="1389888"/>
            <a:ext cx="1005840" cy="246888"/>
          </a:xfrm>
          <a:prstGeom prst="rect">
            <a:avLst/>
          </a:prstGeom>
          <a:noFill/>
          <a:ln/>
        </p:spPr>
        <p:txBody>
          <a:bodyPr wrap="square" lIns="0" tIns="0" rIns="0" bIns="0" rtlCol="0" anchor="ctr"/>
          <a:lstStyle/>
          <a:p>
            <a:pPr indent="0" marL="0">
              <a:buNone/>
            </a:pPr>
            <a:r>
              <a:rPr lang="en-US" sz="1000" b="1" dirty="0">
                <a:solidFill>
                  <a:srgbClr val="1C1C1E"/>
                </a:solidFill>
                <a:latin typeface="Calibri" pitchFamily="34" charset="0"/>
                <a:ea typeface="Calibri" pitchFamily="34" charset="-122"/>
                <a:cs typeface="Calibri" pitchFamily="34" charset="-120"/>
              </a:rPr>
              <a:t>Sample</a:t>
            </a:r>
            <a:endParaRPr lang="en-US" sz="1000" dirty="0"/>
          </a:p>
        </p:txBody>
      </p:sp>
      <p:sp>
        <p:nvSpPr>
          <p:cNvPr id="6" name="Text 4"/>
          <p:cNvSpPr txBox="1"/>
          <p:nvPr/>
        </p:nvSpPr>
        <p:spPr>
          <a:xfrm>
            <a:off x="1645920" y="1389888"/>
            <a:ext cx="2377440" cy="246888"/>
          </a:xfrm>
          <a:prstGeom prst="rect">
            <a:avLst/>
          </a:prstGeom>
          <a:noFill/>
          <a:ln/>
        </p:spPr>
        <p:txBody>
          <a:bodyPr wrap="square" lIns="0" tIns="0" rIns="0" bIns="0" rtlCol="0" anchor="ctr"/>
          <a:lstStyle/>
          <a:p>
            <a:pPr indent="0" marL="0">
              <a:buNone/>
            </a:pPr>
            <a:r>
              <a:rPr lang="en-US" sz="1000" b="1" dirty="0">
                <a:solidFill>
                  <a:srgbClr val="1C1C1E"/>
                </a:solidFill>
                <a:latin typeface="Calibri" pitchFamily="34" charset="0"/>
                <a:ea typeface="Calibri" pitchFamily="34" charset="-122"/>
                <a:cs typeface="Calibri" pitchFamily="34" charset="-120"/>
              </a:rPr>
              <a:t>System</a:t>
            </a:r>
            <a:endParaRPr lang="en-US" sz="1000" dirty="0"/>
          </a:p>
        </p:txBody>
      </p:sp>
      <p:sp>
        <p:nvSpPr>
          <p:cNvPr id="7" name="Text 5"/>
          <p:cNvSpPr txBox="1"/>
          <p:nvPr/>
        </p:nvSpPr>
        <p:spPr>
          <a:xfrm>
            <a:off x="4114800" y="1389888"/>
            <a:ext cx="914400" cy="246888"/>
          </a:xfrm>
          <a:prstGeom prst="rect">
            <a:avLst/>
          </a:prstGeom>
          <a:noFill/>
          <a:ln/>
        </p:spPr>
        <p:txBody>
          <a:bodyPr wrap="square" lIns="0" tIns="0" rIns="0" bIns="0" rtlCol="0" anchor="ctr"/>
          <a:lstStyle/>
          <a:p>
            <a:pPr indent="0" marL="0">
              <a:buNone/>
            </a:pPr>
            <a:r>
              <a:rPr lang="en-US" sz="1000" b="1" dirty="0">
                <a:solidFill>
                  <a:srgbClr val="1C1C1E"/>
                </a:solidFill>
                <a:latin typeface="Calibri" pitchFamily="34" charset="0"/>
                <a:ea typeface="Calibri" pitchFamily="34" charset="-122"/>
                <a:cs typeface="Calibri" pitchFamily="34" charset="-120"/>
              </a:rPr>
              <a:t>XRD peaks</a:t>
            </a:r>
            <a:endParaRPr lang="en-US" sz="1000" dirty="0"/>
          </a:p>
        </p:txBody>
      </p:sp>
      <p:sp>
        <p:nvSpPr>
          <p:cNvPr id="8" name="Text 6"/>
          <p:cNvSpPr txBox="1"/>
          <p:nvPr/>
        </p:nvSpPr>
        <p:spPr>
          <a:xfrm>
            <a:off x="5120640" y="1389888"/>
            <a:ext cx="822960" cy="246888"/>
          </a:xfrm>
          <a:prstGeom prst="rect">
            <a:avLst/>
          </a:prstGeom>
          <a:noFill/>
          <a:ln/>
        </p:spPr>
        <p:txBody>
          <a:bodyPr wrap="square" lIns="0" tIns="0" rIns="0" bIns="0" rtlCol="0" anchor="ctr"/>
          <a:lstStyle/>
          <a:p>
            <a:pPr indent="0" marL="0">
              <a:buNone/>
            </a:pPr>
            <a:r>
              <a:rPr lang="en-US" sz="1000" b="1" dirty="0">
                <a:solidFill>
                  <a:srgbClr val="1C1C1E"/>
                </a:solidFill>
                <a:latin typeface="Calibri" pitchFamily="34" charset="0"/>
                <a:ea typeface="Calibri" pitchFamily="34" charset="-122"/>
                <a:cs typeface="Calibri" pitchFamily="34" charset="-120"/>
              </a:rPr>
              <a:t>Mean R²</a:t>
            </a:r>
            <a:endParaRPr lang="en-US" sz="1000" dirty="0"/>
          </a:p>
        </p:txBody>
      </p:sp>
      <p:sp>
        <p:nvSpPr>
          <p:cNvPr id="9" name="Text 7"/>
          <p:cNvSpPr txBox="1"/>
          <p:nvPr/>
        </p:nvSpPr>
        <p:spPr>
          <a:xfrm>
            <a:off x="6035040" y="1389888"/>
            <a:ext cx="822960" cy="246888"/>
          </a:xfrm>
          <a:prstGeom prst="rect">
            <a:avLst/>
          </a:prstGeom>
          <a:noFill/>
          <a:ln/>
        </p:spPr>
        <p:txBody>
          <a:bodyPr wrap="square" lIns="0" tIns="0" rIns="0" bIns="0" rtlCol="0" anchor="ctr"/>
          <a:lstStyle/>
          <a:p>
            <a:pPr indent="0" marL="0">
              <a:buNone/>
            </a:pPr>
            <a:r>
              <a:rPr lang="en-US" sz="1000" b="1" dirty="0">
                <a:solidFill>
                  <a:srgbClr val="1C1C1E"/>
                </a:solidFill>
                <a:latin typeface="Calibri" pitchFamily="34" charset="0"/>
                <a:ea typeface="Calibri" pitchFamily="34" charset="-122"/>
                <a:cs typeface="Calibri" pitchFamily="34" charset="-120"/>
              </a:rPr>
              <a:t>VSM Hc</a:t>
            </a:r>
            <a:endParaRPr lang="en-US" sz="1000" dirty="0"/>
          </a:p>
        </p:txBody>
      </p:sp>
      <p:sp>
        <p:nvSpPr>
          <p:cNvPr id="10" name="Text 8"/>
          <p:cNvSpPr txBox="1"/>
          <p:nvPr/>
        </p:nvSpPr>
        <p:spPr>
          <a:xfrm>
            <a:off x="6949440" y="1389888"/>
            <a:ext cx="1737360" cy="246888"/>
          </a:xfrm>
          <a:prstGeom prst="rect">
            <a:avLst/>
          </a:prstGeom>
          <a:noFill/>
          <a:ln/>
        </p:spPr>
        <p:txBody>
          <a:bodyPr wrap="square" lIns="0" tIns="0" rIns="0" bIns="0" rtlCol="0" anchor="ctr"/>
          <a:lstStyle/>
          <a:p>
            <a:pPr indent="0" marL="0">
              <a:buNone/>
            </a:pPr>
            <a:r>
              <a:rPr lang="en-US" sz="1000" b="1" dirty="0">
                <a:solidFill>
                  <a:srgbClr val="1C1C1E"/>
                </a:solidFill>
                <a:latin typeface="Calibri" pitchFamily="34" charset="0"/>
                <a:ea typeface="Calibri" pitchFamily="34" charset="-122"/>
                <a:cs typeface="Calibri" pitchFamily="34" charset="-120"/>
              </a:rPr>
              <a:t>Composition</a:t>
            </a:r>
            <a:endParaRPr lang="en-US" sz="1000" dirty="0"/>
          </a:p>
        </p:txBody>
      </p:sp>
      <p:sp>
        <p:nvSpPr>
          <p:cNvPr id="11" name="Shape 9"/>
          <p:cNvSpPr/>
          <p:nvPr/>
        </p:nvSpPr>
        <p:spPr>
          <a:xfrm>
            <a:off x="457200" y="1673352"/>
            <a:ext cx="8229600" cy="393192"/>
          </a:xfrm>
          <a:prstGeom prst="roundRect">
            <a:avLst>
              <a:gd name="adj" fmla="val 13953"/>
            </a:avLst>
          </a:prstGeom>
          <a:solidFill>
            <a:srgbClr val="FAFAF8"/>
          </a:solidFill>
          <a:ln w="12700">
            <a:solidFill>
              <a:srgbClr val="EAE5DE"/>
            </a:solidFill>
            <a:prstDash val="solid"/>
          </a:ln>
        </p:spPr>
      </p:sp>
      <p:sp>
        <p:nvSpPr>
          <p:cNvPr id="12" name="Text 10"/>
          <p:cNvSpPr txBox="1"/>
          <p:nvPr/>
        </p:nvSpPr>
        <p:spPr>
          <a:xfrm>
            <a:off x="548640" y="1719072"/>
            <a:ext cx="1005840" cy="320040"/>
          </a:xfrm>
          <a:prstGeom prst="rect">
            <a:avLst/>
          </a:prstGeom>
          <a:noFill/>
          <a:ln/>
        </p:spPr>
        <p:txBody>
          <a:bodyPr wrap="square" lIns="0" tIns="0" rIns="0" bIns="0" rtlCol="0" anchor="ctr"/>
          <a:lstStyle/>
          <a:p>
            <a:pPr indent="0" marL="0">
              <a:buNone/>
            </a:pPr>
            <a:r>
              <a:rPr lang="en-US" sz="1100" b="1" dirty="0">
                <a:solidFill>
                  <a:srgbClr val="1C1C1E"/>
                </a:solidFill>
                <a:latin typeface="Calibri" pitchFamily="34" charset="0"/>
                <a:ea typeface="Calibri" pitchFamily="34" charset="-122"/>
                <a:cs typeface="Calibri" pitchFamily="34" charset="-120"/>
              </a:rPr>
              <a:t>Sample A</a:t>
            </a:r>
            <a:endParaRPr lang="en-US" sz="1100" dirty="0"/>
          </a:p>
        </p:txBody>
      </p:sp>
      <p:sp>
        <p:nvSpPr>
          <p:cNvPr id="13" name="Text 11"/>
          <p:cNvSpPr txBox="1"/>
          <p:nvPr/>
        </p:nvSpPr>
        <p:spPr>
          <a:xfrm>
            <a:off x="1645920" y="1719072"/>
            <a:ext cx="2377440" cy="32004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Rare-earth permanent magnet</a:t>
            </a:r>
            <a:endParaRPr lang="en-US" sz="1100" dirty="0"/>
          </a:p>
        </p:txBody>
      </p:sp>
      <p:sp>
        <p:nvSpPr>
          <p:cNvPr id="14" name="Text 12"/>
          <p:cNvSpPr txBox="1"/>
          <p:nvPr/>
        </p:nvSpPr>
        <p:spPr>
          <a:xfrm>
            <a:off x="4114800" y="1719072"/>
            <a:ext cx="914400" cy="32004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57</a:t>
            </a:r>
            <a:endParaRPr lang="en-US" sz="1100" dirty="0"/>
          </a:p>
        </p:txBody>
      </p:sp>
      <p:sp>
        <p:nvSpPr>
          <p:cNvPr id="15" name="Text 13"/>
          <p:cNvSpPr txBox="1"/>
          <p:nvPr/>
        </p:nvSpPr>
        <p:spPr>
          <a:xfrm>
            <a:off x="5120640" y="1719072"/>
            <a:ext cx="822960" cy="32004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0.938</a:t>
            </a:r>
            <a:endParaRPr lang="en-US" sz="1100" dirty="0"/>
          </a:p>
        </p:txBody>
      </p:sp>
      <p:sp>
        <p:nvSpPr>
          <p:cNvPr id="16" name="Text 14"/>
          <p:cNvSpPr txBox="1"/>
          <p:nvPr/>
        </p:nvSpPr>
        <p:spPr>
          <a:xfrm>
            <a:off x="6035040" y="1719072"/>
            <a:ext cx="822960" cy="320040"/>
          </a:xfrm>
          <a:prstGeom prst="rect">
            <a:avLst/>
          </a:prstGeom>
          <a:noFill/>
          <a:ln/>
        </p:spPr>
        <p:txBody>
          <a:bodyPr wrap="square" lIns="0" tIns="0" rIns="0" bIns="0" rtlCol="0" anchor="ctr"/>
          <a:lstStyle/>
          <a:p>
            <a:pPr indent="0" marL="0">
              <a:buNone/>
            </a:pPr>
            <a:r>
              <a:rPr lang="en-US" sz="1100" dirty="0">
                <a:solidFill>
                  <a:srgbClr val="2A7A2A"/>
                </a:solidFill>
                <a:latin typeface="Calibri" pitchFamily="34" charset="0"/>
                <a:ea typeface="Calibri" pitchFamily="34" charset="-122"/>
                <a:cs typeface="Calibri" pitchFamily="34" charset="-120"/>
              </a:rPr>
              <a:t>✓</a:t>
            </a:r>
            <a:endParaRPr lang="en-US" sz="1100" dirty="0"/>
          </a:p>
        </p:txBody>
      </p:sp>
      <p:sp>
        <p:nvSpPr>
          <p:cNvPr id="17" name="Text 15"/>
          <p:cNvSpPr txBox="1"/>
          <p:nvPr/>
        </p:nvSpPr>
        <p:spPr>
          <a:xfrm>
            <a:off x="6949440" y="1719072"/>
            <a:ext cx="1737360" cy="32004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wt% + at%</a:t>
            </a:r>
            <a:endParaRPr lang="en-US" sz="1100" dirty="0"/>
          </a:p>
        </p:txBody>
      </p:sp>
      <p:sp>
        <p:nvSpPr>
          <p:cNvPr id="18" name="Text 16"/>
          <p:cNvSpPr txBox="1"/>
          <p:nvPr/>
        </p:nvSpPr>
        <p:spPr>
          <a:xfrm>
            <a:off x="548640" y="2139696"/>
            <a:ext cx="1005840" cy="320040"/>
          </a:xfrm>
          <a:prstGeom prst="rect">
            <a:avLst/>
          </a:prstGeom>
          <a:noFill/>
          <a:ln/>
        </p:spPr>
        <p:txBody>
          <a:bodyPr wrap="square" lIns="0" tIns="0" rIns="0" bIns="0" rtlCol="0" anchor="ctr"/>
          <a:lstStyle/>
          <a:p>
            <a:pPr indent="0" marL="0">
              <a:buNone/>
            </a:pPr>
            <a:r>
              <a:rPr lang="en-US" sz="1100" b="1" dirty="0">
                <a:solidFill>
                  <a:srgbClr val="1C1C1E"/>
                </a:solidFill>
                <a:latin typeface="Calibri" pitchFamily="34" charset="0"/>
                <a:ea typeface="Calibri" pitchFamily="34" charset="-122"/>
                <a:cs typeface="Calibri" pitchFamily="34" charset="-120"/>
              </a:rPr>
              <a:t>Sample B</a:t>
            </a:r>
            <a:endParaRPr lang="en-US" sz="1100" dirty="0"/>
          </a:p>
        </p:txBody>
      </p:sp>
      <p:sp>
        <p:nvSpPr>
          <p:cNvPr id="19" name="Text 17"/>
          <p:cNvSpPr txBox="1"/>
          <p:nvPr/>
        </p:nvSpPr>
        <p:spPr>
          <a:xfrm>
            <a:off x="1645920" y="2139696"/>
            <a:ext cx="2377440" cy="32004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Rare-earth permanent magnet</a:t>
            </a:r>
            <a:endParaRPr lang="en-US" sz="1100" dirty="0"/>
          </a:p>
        </p:txBody>
      </p:sp>
      <p:sp>
        <p:nvSpPr>
          <p:cNvPr id="20" name="Text 18"/>
          <p:cNvSpPr txBox="1"/>
          <p:nvPr/>
        </p:nvSpPr>
        <p:spPr>
          <a:xfrm>
            <a:off x="4114800" y="2139696"/>
            <a:ext cx="914400" cy="32004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58</a:t>
            </a:r>
            <a:endParaRPr lang="en-US" sz="1100" dirty="0"/>
          </a:p>
        </p:txBody>
      </p:sp>
      <p:sp>
        <p:nvSpPr>
          <p:cNvPr id="21" name="Text 19"/>
          <p:cNvSpPr txBox="1"/>
          <p:nvPr/>
        </p:nvSpPr>
        <p:spPr>
          <a:xfrm>
            <a:off x="5120640" y="2139696"/>
            <a:ext cx="822960" cy="32004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0.943</a:t>
            </a:r>
            <a:endParaRPr lang="en-US" sz="1100" dirty="0"/>
          </a:p>
        </p:txBody>
      </p:sp>
      <p:sp>
        <p:nvSpPr>
          <p:cNvPr id="22" name="Text 20"/>
          <p:cNvSpPr txBox="1"/>
          <p:nvPr/>
        </p:nvSpPr>
        <p:spPr>
          <a:xfrm>
            <a:off x="6035040" y="2139696"/>
            <a:ext cx="822960" cy="320040"/>
          </a:xfrm>
          <a:prstGeom prst="rect">
            <a:avLst/>
          </a:prstGeom>
          <a:noFill/>
          <a:ln/>
        </p:spPr>
        <p:txBody>
          <a:bodyPr wrap="square" lIns="0" tIns="0" rIns="0" bIns="0" rtlCol="0" anchor="ctr"/>
          <a:lstStyle/>
          <a:p>
            <a:pPr indent="0" marL="0">
              <a:buNone/>
            </a:pPr>
            <a:r>
              <a:rPr lang="en-US" sz="1100" dirty="0">
                <a:solidFill>
                  <a:srgbClr val="7A7A7A"/>
                </a:solidFill>
                <a:latin typeface="Calibri" pitchFamily="34" charset="0"/>
                <a:ea typeface="Calibri" pitchFamily="34" charset="-122"/>
                <a:cs typeface="Calibri" pitchFamily="34" charset="-120"/>
              </a:rPr>
              <a:t>—</a:t>
            </a:r>
            <a:endParaRPr lang="en-US" sz="1100" dirty="0"/>
          </a:p>
        </p:txBody>
      </p:sp>
      <p:sp>
        <p:nvSpPr>
          <p:cNvPr id="23" name="Text 21"/>
          <p:cNvSpPr txBox="1"/>
          <p:nvPr/>
        </p:nvSpPr>
        <p:spPr>
          <a:xfrm>
            <a:off x="6949440" y="2139696"/>
            <a:ext cx="1737360" cy="32004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wt% + at%</a:t>
            </a:r>
            <a:endParaRPr lang="en-US" sz="1100" dirty="0"/>
          </a:p>
        </p:txBody>
      </p:sp>
      <p:sp>
        <p:nvSpPr>
          <p:cNvPr id="24" name="Shape 22"/>
          <p:cNvSpPr/>
          <p:nvPr/>
        </p:nvSpPr>
        <p:spPr>
          <a:xfrm>
            <a:off x="457200" y="2514600"/>
            <a:ext cx="8229600" cy="393192"/>
          </a:xfrm>
          <a:prstGeom prst="roundRect">
            <a:avLst>
              <a:gd name="adj" fmla="val 13953"/>
            </a:avLst>
          </a:prstGeom>
          <a:solidFill>
            <a:srgbClr val="FAFAF8"/>
          </a:solidFill>
          <a:ln w="12700">
            <a:solidFill>
              <a:srgbClr val="EAE5DE"/>
            </a:solidFill>
            <a:prstDash val="solid"/>
          </a:ln>
        </p:spPr>
      </p:sp>
      <p:sp>
        <p:nvSpPr>
          <p:cNvPr id="25" name="Text 23"/>
          <p:cNvSpPr txBox="1"/>
          <p:nvPr/>
        </p:nvSpPr>
        <p:spPr>
          <a:xfrm>
            <a:off x="548640" y="2560320"/>
            <a:ext cx="1005840" cy="320040"/>
          </a:xfrm>
          <a:prstGeom prst="rect">
            <a:avLst/>
          </a:prstGeom>
          <a:noFill/>
          <a:ln/>
        </p:spPr>
        <p:txBody>
          <a:bodyPr wrap="square" lIns="0" tIns="0" rIns="0" bIns="0" rtlCol="0" anchor="ctr"/>
          <a:lstStyle/>
          <a:p>
            <a:pPr indent="0" marL="0">
              <a:buNone/>
            </a:pPr>
            <a:r>
              <a:rPr lang="en-US" sz="1100" b="1" dirty="0">
                <a:solidFill>
                  <a:srgbClr val="1C1C1E"/>
                </a:solidFill>
                <a:latin typeface="Calibri" pitchFamily="34" charset="0"/>
                <a:ea typeface="Calibri" pitchFamily="34" charset="-122"/>
                <a:cs typeface="Calibri" pitchFamily="34" charset="-120"/>
              </a:rPr>
              <a:t>Sample C</a:t>
            </a:r>
            <a:endParaRPr lang="en-US" sz="1100" dirty="0"/>
          </a:p>
        </p:txBody>
      </p:sp>
      <p:sp>
        <p:nvSpPr>
          <p:cNvPr id="26" name="Text 24"/>
          <p:cNvSpPr txBox="1"/>
          <p:nvPr/>
        </p:nvSpPr>
        <p:spPr>
          <a:xfrm>
            <a:off x="1645920" y="2560320"/>
            <a:ext cx="2377440" cy="32004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Rare-earth permanent magnet</a:t>
            </a:r>
            <a:endParaRPr lang="en-US" sz="1100" dirty="0"/>
          </a:p>
        </p:txBody>
      </p:sp>
      <p:sp>
        <p:nvSpPr>
          <p:cNvPr id="27" name="Text 25"/>
          <p:cNvSpPr txBox="1"/>
          <p:nvPr/>
        </p:nvSpPr>
        <p:spPr>
          <a:xfrm>
            <a:off x="4114800" y="2560320"/>
            <a:ext cx="914400" cy="32004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55</a:t>
            </a:r>
            <a:endParaRPr lang="en-US" sz="1100" dirty="0"/>
          </a:p>
        </p:txBody>
      </p:sp>
      <p:sp>
        <p:nvSpPr>
          <p:cNvPr id="28" name="Text 26"/>
          <p:cNvSpPr txBox="1"/>
          <p:nvPr/>
        </p:nvSpPr>
        <p:spPr>
          <a:xfrm>
            <a:off x="5120640" y="2560320"/>
            <a:ext cx="822960" cy="32004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0.937</a:t>
            </a:r>
            <a:endParaRPr lang="en-US" sz="1100" dirty="0"/>
          </a:p>
        </p:txBody>
      </p:sp>
      <p:sp>
        <p:nvSpPr>
          <p:cNvPr id="29" name="Text 27"/>
          <p:cNvSpPr txBox="1"/>
          <p:nvPr/>
        </p:nvSpPr>
        <p:spPr>
          <a:xfrm>
            <a:off x="6035040" y="2560320"/>
            <a:ext cx="822960" cy="320040"/>
          </a:xfrm>
          <a:prstGeom prst="rect">
            <a:avLst/>
          </a:prstGeom>
          <a:noFill/>
          <a:ln/>
        </p:spPr>
        <p:txBody>
          <a:bodyPr wrap="square" lIns="0" tIns="0" rIns="0" bIns="0" rtlCol="0" anchor="ctr"/>
          <a:lstStyle/>
          <a:p>
            <a:pPr indent="0" marL="0">
              <a:buNone/>
            </a:pPr>
            <a:r>
              <a:rPr lang="en-US" sz="1100" dirty="0">
                <a:solidFill>
                  <a:srgbClr val="7A7A7A"/>
                </a:solidFill>
                <a:latin typeface="Calibri" pitchFamily="34" charset="0"/>
                <a:ea typeface="Calibri" pitchFamily="34" charset="-122"/>
                <a:cs typeface="Calibri" pitchFamily="34" charset="-120"/>
              </a:rPr>
              <a:t>—</a:t>
            </a:r>
            <a:endParaRPr lang="en-US" sz="1100" dirty="0"/>
          </a:p>
        </p:txBody>
      </p:sp>
      <p:sp>
        <p:nvSpPr>
          <p:cNvPr id="30" name="Text 28"/>
          <p:cNvSpPr txBox="1"/>
          <p:nvPr/>
        </p:nvSpPr>
        <p:spPr>
          <a:xfrm>
            <a:off x="6949440" y="2560320"/>
            <a:ext cx="1737360" cy="32004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wt% + at%</a:t>
            </a:r>
            <a:endParaRPr lang="en-US" sz="1100" dirty="0"/>
          </a:p>
        </p:txBody>
      </p:sp>
      <p:sp>
        <p:nvSpPr>
          <p:cNvPr id="31" name="Text 29"/>
          <p:cNvSpPr txBox="1"/>
          <p:nvPr/>
        </p:nvSpPr>
        <p:spPr>
          <a:xfrm>
            <a:off x="548640" y="2980944"/>
            <a:ext cx="1005840" cy="320040"/>
          </a:xfrm>
          <a:prstGeom prst="rect">
            <a:avLst/>
          </a:prstGeom>
          <a:noFill/>
          <a:ln/>
        </p:spPr>
        <p:txBody>
          <a:bodyPr wrap="square" lIns="0" tIns="0" rIns="0" bIns="0" rtlCol="0" anchor="ctr"/>
          <a:lstStyle/>
          <a:p>
            <a:pPr indent="0" marL="0">
              <a:buNone/>
            </a:pPr>
            <a:r>
              <a:rPr lang="en-US" sz="1100" b="1" dirty="0">
                <a:solidFill>
                  <a:srgbClr val="1C1C1E"/>
                </a:solidFill>
                <a:latin typeface="Calibri" pitchFamily="34" charset="0"/>
                <a:ea typeface="Calibri" pitchFamily="34" charset="-122"/>
                <a:cs typeface="Calibri" pitchFamily="34" charset="-120"/>
              </a:rPr>
              <a:t>Sample D</a:t>
            </a:r>
            <a:endParaRPr lang="en-US" sz="1100" dirty="0"/>
          </a:p>
        </p:txBody>
      </p:sp>
      <p:sp>
        <p:nvSpPr>
          <p:cNvPr id="32" name="Text 30"/>
          <p:cNvSpPr txBox="1"/>
          <p:nvPr/>
        </p:nvSpPr>
        <p:spPr>
          <a:xfrm>
            <a:off x="1645920" y="2980944"/>
            <a:ext cx="2377440" cy="32004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La-Fe-Si magnetocaloric</a:t>
            </a:r>
            <a:endParaRPr lang="en-US" sz="1100" dirty="0"/>
          </a:p>
        </p:txBody>
      </p:sp>
      <p:sp>
        <p:nvSpPr>
          <p:cNvPr id="33" name="Text 31"/>
          <p:cNvSpPr txBox="1"/>
          <p:nvPr/>
        </p:nvSpPr>
        <p:spPr>
          <a:xfrm>
            <a:off x="4114800" y="2980944"/>
            <a:ext cx="914400" cy="320040"/>
          </a:xfrm>
          <a:prstGeom prst="rect">
            <a:avLst/>
          </a:prstGeom>
          <a:noFill/>
          <a:ln/>
        </p:spPr>
        <p:txBody>
          <a:bodyPr wrap="square" lIns="0" tIns="0" rIns="0" bIns="0" rtlCol="0" anchor="ctr"/>
          <a:lstStyle/>
          <a:p>
            <a:pPr indent="0" marL="0">
              <a:buNone/>
            </a:pPr>
            <a:r>
              <a:rPr lang="en-US" sz="1100" dirty="0">
                <a:solidFill>
                  <a:srgbClr val="7A7A7A"/>
                </a:solidFill>
                <a:latin typeface="Calibri" pitchFamily="34" charset="0"/>
                <a:ea typeface="Calibri" pitchFamily="34" charset="-122"/>
                <a:cs typeface="Calibri" pitchFamily="34" charset="-120"/>
              </a:rPr>
              <a:t>—</a:t>
            </a:r>
            <a:endParaRPr lang="en-US" sz="1100" dirty="0"/>
          </a:p>
        </p:txBody>
      </p:sp>
      <p:sp>
        <p:nvSpPr>
          <p:cNvPr id="34" name="Text 32"/>
          <p:cNvSpPr txBox="1"/>
          <p:nvPr/>
        </p:nvSpPr>
        <p:spPr>
          <a:xfrm>
            <a:off x="5120640" y="2980944"/>
            <a:ext cx="822960" cy="320040"/>
          </a:xfrm>
          <a:prstGeom prst="rect">
            <a:avLst/>
          </a:prstGeom>
          <a:noFill/>
          <a:ln/>
        </p:spPr>
        <p:txBody>
          <a:bodyPr wrap="square" lIns="0" tIns="0" rIns="0" bIns="0" rtlCol="0" anchor="ctr"/>
          <a:lstStyle/>
          <a:p>
            <a:pPr indent="0" marL="0">
              <a:buNone/>
            </a:pPr>
            <a:r>
              <a:rPr lang="en-US" sz="1100" dirty="0">
                <a:solidFill>
                  <a:srgbClr val="7A7A7A"/>
                </a:solidFill>
                <a:latin typeface="Calibri" pitchFamily="34" charset="0"/>
                <a:ea typeface="Calibri" pitchFamily="34" charset="-122"/>
                <a:cs typeface="Calibri" pitchFamily="34" charset="-120"/>
              </a:rPr>
              <a:t>—</a:t>
            </a:r>
            <a:endParaRPr lang="en-US" sz="1100" dirty="0"/>
          </a:p>
        </p:txBody>
      </p:sp>
      <p:sp>
        <p:nvSpPr>
          <p:cNvPr id="35" name="Text 33"/>
          <p:cNvSpPr txBox="1"/>
          <p:nvPr/>
        </p:nvSpPr>
        <p:spPr>
          <a:xfrm>
            <a:off x="6035040" y="2980944"/>
            <a:ext cx="822960" cy="320040"/>
          </a:xfrm>
          <a:prstGeom prst="rect">
            <a:avLst/>
          </a:prstGeom>
          <a:noFill/>
          <a:ln/>
        </p:spPr>
        <p:txBody>
          <a:bodyPr wrap="square" lIns="0" tIns="0" rIns="0" bIns="0" rtlCol="0" anchor="ctr"/>
          <a:lstStyle/>
          <a:p>
            <a:pPr indent="0" marL="0">
              <a:buNone/>
            </a:pPr>
            <a:r>
              <a:rPr lang="en-US" sz="1100" dirty="0">
                <a:solidFill>
                  <a:srgbClr val="7A7A7A"/>
                </a:solidFill>
                <a:latin typeface="Calibri" pitchFamily="34" charset="0"/>
                <a:ea typeface="Calibri" pitchFamily="34" charset="-122"/>
                <a:cs typeface="Calibri" pitchFamily="34" charset="-120"/>
              </a:rPr>
              <a:t>—</a:t>
            </a:r>
            <a:endParaRPr lang="en-US" sz="1100" dirty="0"/>
          </a:p>
        </p:txBody>
      </p:sp>
      <p:sp>
        <p:nvSpPr>
          <p:cNvPr id="36" name="Text 34"/>
          <p:cNvSpPr txBox="1"/>
          <p:nvPr/>
        </p:nvSpPr>
        <p:spPr>
          <a:xfrm>
            <a:off x="6949440" y="2980944"/>
            <a:ext cx="1737360" cy="32004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wt% + at%</a:t>
            </a:r>
            <a:endParaRPr lang="en-US" sz="1100" dirty="0"/>
          </a:p>
        </p:txBody>
      </p:sp>
      <p:sp>
        <p:nvSpPr>
          <p:cNvPr id="37" name="Shape 35"/>
          <p:cNvSpPr/>
          <p:nvPr/>
        </p:nvSpPr>
        <p:spPr>
          <a:xfrm>
            <a:off x="457200" y="3355848"/>
            <a:ext cx="8229600" cy="393192"/>
          </a:xfrm>
          <a:prstGeom prst="roundRect">
            <a:avLst>
              <a:gd name="adj" fmla="val 13953"/>
            </a:avLst>
          </a:prstGeom>
          <a:solidFill>
            <a:srgbClr val="FAFAF8"/>
          </a:solidFill>
          <a:ln w="12700">
            <a:solidFill>
              <a:srgbClr val="EAE5DE"/>
            </a:solidFill>
            <a:prstDash val="solid"/>
          </a:ln>
        </p:spPr>
      </p:sp>
      <p:sp>
        <p:nvSpPr>
          <p:cNvPr id="38" name="Text 36"/>
          <p:cNvSpPr txBox="1"/>
          <p:nvPr/>
        </p:nvSpPr>
        <p:spPr>
          <a:xfrm>
            <a:off x="548640" y="3401568"/>
            <a:ext cx="1005840" cy="320040"/>
          </a:xfrm>
          <a:prstGeom prst="rect">
            <a:avLst/>
          </a:prstGeom>
          <a:noFill/>
          <a:ln/>
        </p:spPr>
        <p:txBody>
          <a:bodyPr wrap="square" lIns="0" tIns="0" rIns="0" bIns="0" rtlCol="0" anchor="ctr"/>
          <a:lstStyle/>
          <a:p>
            <a:pPr indent="0" marL="0">
              <a:buNone/>
            </a:pPr>
            <a:r>
              <a:rPr lang="en-US" sz="1100" b="1" dirty="0">
                <a:solidFill>
                  <a:srgbClr val="1C1C1E"/>
                </a:solidFill>
                <a:latin typeface="Calibri" pitchFamily="34" charset="0"/>
                <a:ea typeface="Calibri" pitchFamily="34" charset="-122"/>
                <a:cs typeface="Calibri" pitchFamily="34" charset="-120"/>
              </a:rPr>
              <a:t>Sample E</a:t>
            </a:r>
            <a:endParaRPr lang="en-US" sz="1100" dirty="0"/>
          </a:p>
        </p:txBody>
      </p:sp>
      <p:sp>
        <p:nvSpPr>
          <p:cNvPr id="39" name="Text 37"/>
          <p:cNvSpPr txBox="1"/>
          <p:nvPr/>
        </p:nvSpPr>
        <p:spPr>
          <a:xfrm>
            <a:off x="1645920" y="3401568"/>
            <a:ext cx="2377440" cy="32004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Mn-Al-C magnet</a:t>
            </a:r>
            <a:endParaRPr lang="en-US" sz="1100" dirty="0"/>
          </a:p>
        </p:txBody>
      </p:sp>
      <p:sp>
        <p:nvSpPr>
          <p:cNvPr id="40" name="Text 38"/>
          <p:cNvSpPr txBox="1"/>
          <p:nvPr/>
        </p:nvSpPr>
        <p:spPr>
          <a:xfrm>
            <a:off x="4114800" y="3401568"/>
            <a:ext cx="914400" cy="320040"/>
          </a:xfrm>
          <a:prstGeom prst="rect">
            <a:avLst/>
          </a:prstGeom>
          <a:noFill/>
          <a:ln/>
        </p:spPr>
        <p:txBody>
          <a:bodyPr wrap="square" lIns="0" tIns="0" rIns="0" bIns="0" rtlCol="0" anchor="ctr"/>
          <a:lstStyle/>
          <a:p>
            <a:pPr indent="0" marL="0">
              <a:buNone/>
            </a:pPr>
            <a:r>
              <a:rPr lang="en-US" sz="1100" dirty="0">
                <a:solidFill>
                  <a:srgbClr val="7A7A7A"/>
                </a:solidFill>
                <a:latin typeface="Calibri" pitchFamily="34" charset="0"/>
                <a:ea typeface="Calibri" pitchFamily="34" charset="-122"/>
                <a:cs typeface="Calibri" pitchFamily="34" charset="-120"/>
              </a:rPr>
              <a:t>—</a:t>
            </a:r>
            <a:endParaRPr lang="en-US" sz="1100" dirty="0"/>
          </a:p>
        </p:txBody>
      </p:sp>
      <p:sp>
        <p:nvSpPr>
          <p:cNvPr id="41" name="Text 39"/>
          <p:cNvSpPr txBox="1"/>
          <p:nvPr/>
        </p:nvSpPr>
        <p:spPr>
          <a:xfrm>
            <a:off x="5120640" y="3401568"/>
            <a:ext cx="822960" cy="320040"/>
          </a:xfrm>
          <a:prstGeom prst="rect">
            <a:avLst/>
          </a:prstGeom>
          <a:noFill/>
          <a:ln/>
        </p:spPr>
        <p:txBody>
          <a:bodyPr wrap="square" lIns="0" tIns="0" rIns="0" bIns="0" rtlCol="0" anchor="ctr"/>
          <a:lstStyle/>
          <a:p>
            <a:pPr indent="0" marL="0">
              <a:buNone/>
            </a:pPr>
            <a:r>
              <a:rPr lang="en-US" sz="1100" dirty="0">
                <a:solidFill>
                  <a:srgbClr val="7A7A7A"/>
                </a:solidFill>
                <a:latin typeface="Calibri" pitchFamily="34" charset="0"/>
                <a:ea typeface="Calibri" pitchFamily="34" charset="-122"/>
                <a:cs typeface="Calibri" pitchFamily="34" charset="-120"/>
              </a:rPr>
              <a:t>—</a:t>
            </a:r>
            <a:endParaRPr lang="en-US" sz="1100" dirty="0"/>
          </a:p>
        </p:txBody>
      </p:sp>
      <p:sp>
        <p:nvSpPr>
          <p:cNvPr id="42" name="Text 40"/>
          <p:cNvSpPr txBox="1"/>
          <p:nvPr/>
        </p:nvSpPr>
        <p:spPr>
          <a:xfrm>
            <a:off x="6035040" y="3401568"/>
            <a:ext cx="822960" cy="320040"/>
          </a:xfrm>
          <a:prstGeom prst="rect">
            <a:avLst/>
          </a:prstGeom>
          <a:noFill/>
          <a:ln/>
        </p:spPr>
        <p:txBody>
          <a:bodyPr wrap="square" lIns="0" tIns="0" rIns="0" bIns="0" rtlCol="0" anchor="ctr"/>
          <a:lstStyle/>
          <a:p>
            <a:pPr indent="0" marL="0">
              <a:buNone/>
            </a:pPr>
            <a:r>
              <a:rPr lang="en-US" sz="1100" dirty="0">
                <a:solidFill>
                  <a:srgbClr val="7A7A7A"/>
                </a:solidFill>
                <a:latin typeface="Calibri" pitchFamily="34" charset="0"/>
                <a:ea typeface="Calibri" pitchFamily="34" charset="-122"/>
                <a:cs typeface="Calibri" pitchFamily="34" charset="-120"/>
              </a:rPr>
              <a:t>—</a:t>
            </a:r>
            <a:endParaRPr lang="en-US" sz="1100" dirty="0"/>
          </a:p>
        </p:txBody>
      </p:sp>
      <p:sp>
        <p:nvSpPr>
          <p:cNvPr id="43" name="Text 41"/>
          <p:cNvSpPr txBox="1"/>
          <p:nvPr/>
        </p:nvSpPr>
        <p:spPr>
          <a:xfrm>
            <a:off x="6949440" y="3401568"/>
            <a:ext cx="1737360" cy="32004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wt% + at%</a:t>
            </a:r>
            <a:endParaRPr lang="en-US" sz="1100" dirty="0"/>
          </a:p>
        </p:txBody>
      </p:sp>
      <p:sp>
        <p:nvSpPr>
          <p:cNvPr id="44" name="Text 42"/>
          <p:cNvSpPr txBox="1"/>
          <p:nvPr/>
        </p:nvSpPr>
        <p:spPr>
          <a:xfrm>
            <a:off x="548640" y="3822192"/>
            <a:ext cx="1005840" cy="320040"/>
          </a:xfrm>
          <a:prstGeom prst="rect">
            <a:avLst/>
          </a:prstGeom>
          <a:noFill/>
          <a:ln/>
        </p:spPr>
        <p:txBody>
          <a:bodyPr wrap="square" lIns="0" tIns="0" rIns="0" bIns="0" rtlCol="0" anchor="ctr"/>
          <a:lstStyle/>
          <a:p>
            <a:pPr indent="0" marL="0">
              <a:buNone/>
            </a:pPr>
            <a:r>
              <a:rPr lang="en-US" sz="1100" b="1" dirty="0">
                <a:solidFill>
                  <a:srgbClr val="1C1C1E"/>
                </a:solidFill>
                <a:latin typeface="Calibri" pitchFamily="34" charset="0"/>
                <a:ea typeface="Calibri" pitchFamily="34" charset="-122"/>
                <a:cs typeface="Calibri" pitchFamily="34" charset="-120"/>
              </a:rPr>
              <a:t>Sample F</a:t>
            </a:r>
            <a:endParaRPr lang="en-US" sz="1100" dirty="0"/>
          </a:p>
        </p:txBody>
      </p:sp>
      <p:sp>
        <p:nvSpPr>
          <p:cNvPr id="45" name="Text 43"/>
          <p:cNvSpPr txBox="1"/>
          <p:nvPr/>
        </p:nvSpPr>
        <p:spPr>
          <a:xfrm>
            <a:off x="1645920" y="3822192"/>
            <a:ext cx="2377440" cy="32004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Fe-Co-P (synthesis blocked)</a:t>
            </a:r>
            <a:endParaRPr lang="en-US" sz="1100" dirty="0"/>
          </a:p>
        </p:txBody>
      </p:sp>
      <p:sp>
        <p:nvSpPr>
          <p:cNvPr id="46" name="Text 44"/>
          <p:cNvSpPr txBox="1"/>
          <p:nvPr/>
        </p:nvSpPr>
        <p:spPr>
          <a:xfrm>
            <a:off x="4114800" y="3822192"/>
            <a:ext cx="914400" cy="320040"/>
          </a:xfrm>
          <a:prstGeom prst="rect">
            <a:avLst/>
          </a:prstGeom>
          <a:noFill/>
          <a:ln/>
        </p:spPr>
        <p:txBody>
          <a:bodyPr wrap="square" lIns="0" tIns="0" rIns="0" bIns="0" rtlCol="0" anchor="ctr"/>
          <a:lstStyle/>
          <a:p>
            <a:pPr indent="0" marL="0">
              <a:buNone/>
            </a:pPr>
            <a:r>
              <a:rPr lang="en-US" sz="1100" dirty="0">
                <a:solidFill>
                  <a:srgbClr val="7A7A7A"/>
                </a:solidFill>
                <a:latin typeface="Calibri" pitchFamily="34" charset="0"/>
                <a:ea typeface="Calibri" pitchFamily="34" charset="-122"/>
                <a:cs typeface="Calibri" pitchFamily="34" charset="-120"/>
              </a:rPr>
              <a:t>—</a:t>
            </a:r>
            <a:endParaRPr lang="en-US" sz="1100" dirty="0"/>
          </a:p>
        </p:txBody>
      </p:sp>
      <p:sp>
        <p:nvSpPr>
          <p:cNvPr id="47" name="Text 45"/>
          <p:cNvSpPr txBox="1"/>
          <p:nvPr/>
        </p:nvSpPr>
        <p:spPr>
          <a:xfrm>
            <a:off x="5120640" y="3822192"/>
            <a:ext cx="822960" cy="320040"/>
          </a:xfrm>
          <a:prstGeom prst="rect">
            <a:avLst/>
          </a:prstGeom>
          <a:noFill/>
          <a:ln/>
        </p:spPr>
        <p:txBody>
          <a:bodyPr wrap="square" lIns="0" tIns="0" rIns="0" bIns="0" rtlCol="0" anchor="ctr"/>
          <a:lstStyle/>
          <a:p>
            <a:pPr indent="0" marL="0">
              <a:buNone/>
            </a:pPr>
            <a:r>
              <a:rPr lang="en-US" sz="1100" dirty="0">
                <a:solidFill>
                  <a:srgbClr val="7A7A7A"/>
                </a:solidFill>
                <a:latin typeface="Calibri" pitchFamily="34" charset="0"/>
                <a:ea typeface="Calibri" pitchFamily="34" charset="-122"/>
                <a:cs typeface="Calibri" pitchFamily="34" charset="-120"/>
              </a:rPr>
              <a:t>—</a:t>
            </a:r>
            <a:endParaRPr lang="en-US" sz="1100" dirty="0"/>
          </a:p>
        </p:txBody>
      </p:sp>
      <p:sp>
        <p:nvSpPr>
          <p:cNvPr id="48" name="Text 46"/>
          <p:cNvSpPr txBox="1"/>
          <p:nvPr/>
        </p:nvSpPr>
        <p:spPr>
          <a:xfrm>
            <a:off x="6035040" y="3822192"/>
            <a:ext cx="822960" cy="320040"/>
          </a:xfrm>
          <a:prstGeom prst="rect">
            <a:avLst/>
          </a:prstGeom>
          <a:noFill/>
          <a:ln/>
        </p:spPr>
        <p:txBody>
          <a:bodyPr wrap="square" lIns="0" tIns="0" rIns="0" bIns="0" rtlCol="0" anchor="ctr"/>
          <a:lstStyle/>
          <a:p>
            <a:pPr indent="0" marL="0">
              <a:buNone/>
            </a:pPr>
            <a:r>
              <a:rPr lang="en-US" sz="1100" dirty="0">
                <a:solidFill>
                  <a:srgbClr val="7A7A7A"/>
                </a:solidFill>
                <a:latin typeface="Calibri" pitchFamily="34" charset="0"/>
                <a:ea typeface="Calibri" pitchFamily="34" charset="-122"/>
                <a:cs typeface="Calibri" pitchFamily="34" charset="-120"/>
              </a:rPr>
              <a:t>—</a:t>
            </a:r>
            <a:endParaRPr lang="en-US" sz="1100" dirty="0"/>
          </a:p>
        </p:txBody>
      </p:sp>
      <p:sp>
        <p:nvSpPr>
          <p:cNvPr id="49" name="Text 47"/>
          <p:cNvSpPr txBox="1"/>
          <p:nvPr/>
        </p:nvSpPr>
        <p:spPr>
          <a:xfrm>
            <a:off x="6949440" y="3822192"/>
            <a:ext cx="1737360" cy="320040"/>
          </a:xfrm>
          <a:prstGeom prst="rect">
            <a:avLst/>
          </a:prstGeom>
          <a:noFill/>
          <a:ln/>
        </p:spPr>
        <p:txBody>
          <a:bodyPr wrap="square" lIns="0" tIns="0" rIns="0" bIns="0" rtlCol="0" anchor="ctr"/>
          <a:lstStyle/>
          <a:p>
            <a:pPr indent="0" marL="0">
              <a:buNone/>
            </a:pPr>
            <a:r>
              <a:rPr lang="en-US" sz="1100" dirty="0">
                <a:solidFill>
                  <a:srgbClr val="4A4A4E"/>
                </a:solidFill>
                <a:latin typeface="Calibri" pitchFamily="34" charset="0"/>
                <a:ea typeface="Calibri" pitchFamily="34" charset="-122"/>
                <a:cs typeface="Calibri" pitchFamily="34" charset="-120"/>
              </a:rPr>
              <a:t>wt% + at% + routes</a:t>
            </a:r>
            <a:endParaRPr lang="en-US" sz="1100" dirty="0"/>
          </a:p>
        </p:txBody>
      </p:sp>
      <p:sp>
        <p:nvSpPr>
          <p:cNvPr id="50" name="Text 48"/>
          <p:cNvSpPr txBox="1"/>
          <p:nvPr/>
        </p:nvSpPr>
        <p:spPr>
          <a:xfrm>
            <a:off x="457200" y="4736592"/>
            <a:ext cx="8229600" cy="228600"/>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Sample names anonymised pending publication. Alloy systems cover rare-earth permanent magnets, magnetocaloric materials, and novel transition-metal compositions.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01168"/>
          </a:xfrm>
          <a:prstGeom prst="rect">
            <a:avLst/>
          </a:prstGeom>
          <a:noFill/>
          <a:ln/>
        </p:spPr>
        <p:txBody>
          <a:bodyPr wrap="square" lIns="0" tIns="0" rIns="0" bIns="0" rtlCol="0" anchor="ctr"/>
          <a:lstStyle/>
          <a:p>
            <a:pPr indent="0" marL="0">
              <a:buNone/>
            </a:pPr>
            <a:r>
              <a:rPr lang="en-US" sz="800" b="1" spc="300" kern="0" dirty="0">
                <a:solidFill>
                  <a:srgbClr val="B56A2A"/>
                </a:solidFill>
                <a:latin typeface="Calibri" pitchFamily="34" charset="0"/>
                <a:ea typeface="Calibri" pitchFamily="34" charset="-122"/>
                <a:cs typeface="Calibri" pitchFamily="34" charset="-120"/>
              </a:rPr>
              <a:t>INFRASTRUCTURE · SEPTEMBER 2026</a:t>
            </a:r>
            <a:endParaRPr lang="en-US" sz="800" dirty="0"/>
          </a:p>
        </p:txBody>
      </p:sp>
      <p:sp>
        <p:nvSpPr>
          <p:cNvPr id="3" name="Text 1"/>
          <p:cNvSpPr txBox="1"/>
          <p:nvPr/>
        </p:nvSpPr>
        <p:spPr>
          <a:xfrm>
            <a:off x="457200" y="594360"/>
            <a:ext cx="8229600" cy="594360"/>
          </a:xfrm>
          <a:prstGeom prst="rect">
            <a:avLst/>
          </a:prstGeom>
          <a:noFill/>
          <a:ln/>
        </p:spPr>
        <p:txBody>
          <a:bodyPr wrap="square" lIns="0" tIns="0" rIns="0" bIns="0" rtlCol="0" anchor="ctr"/>
          <a:lstStyle/>
          <a:p>
            <a:pPr indent="0" marL="0">
              <a:buNone/>
            </a:pPr>
            <a:r>
              <a:rPr lang="en-US" sz="3000" b="1" dirty="0">
                <a:solidFill>
                  <a:srgbClr val="1C1C1E"/>
                </a:solidFill>
                <a:latin typeface="Georgia" pitchFamily="34" charset="0"/>
                <a:ea typeface="Georgia" pitchFamily="34" charset="-122"/>
                <a:cs typeface="Georgia" pitchFamily="34" charset="-120"/>
              </a:rPr>
              <a:t>Three machines. One canonical database.</a:t>
            </a:r>
            <a:endParaRPr lang="en-US" sz="3000" dirty="0"/>
          </a:p>
        </p:txBody>
      </p:sp>
      <p:sp>
        <p:nvSpPr>
          <p:cNvPr id="4" name="Text 2"/>
          <p:cNvSpPr txBox="1"/>
          <p:nvPr/>
        </p:nvSpPr>
        <p:spPr>
          <a:xfrm>
            <a:off x="457200" y="1261872"/>
            <a:ext cx="8229600" cy="384048"/>
          </a:xfrm>
          <a:prstGeom prst="rect">
            <a:avLst/>
          </a:prstGeom>
          <a:noFill/>
          <a:ln/>
        </p:spPr>
        <p:txBody>
          <a:bodyPr wrap="square" lIns="0" tIns="0" rIns="0" bIns="0" rtlCol="0" anchor="ctr"/>
          <a:lstStyle/>
          <a:p>
            <a:pPr indent="0" marL="0">
              <a:buNone/>
            </a:pPr>
            <a:r>
              <a:rPr lang="en-US" sz="1250" dirty="0">
                <a:solidFill>
                  <a:srgbClr val="4A4A4E"/>
                </a:solidFill>
                <a:latin typeface="Calibri" pitchFamily="34" charset="0"/>
                <a:ea typeface="Calibri" pitchFamily="34" charset="-122"/>
                <a:cs typeface="Calibri" pitchFamily="34" charset="-120"/>
              </a:rPr>
              <a:t>On 3 September 2026, the database was migrated from a local Docker container to a dedicated home server. One session, zero data loss.</a:t>
            </a:r>
            <a:endParaRPr lang="en-US" sz="1250" dirty="0"/>
          </a:p>
        </p:txBody>
      </p:sp>
      <p:sp>
        <p:nvSpPr>
          <p:cNvPr id="5" name="Shape 3"/>
          <p:cNvSpPr/>
          <p:nvPr/>
        </p:nvSpPr>
        <p:spPr>
          <a:xfrm>
            <a:off x="457200" y="1828800"/>
            <a:ext cx="2651760" cy="1463040"/>
          </a:xfrm>
          <a:prstGeom prst="roundRect">
            <a:avLst>
              <a:gd name="adj" fmla="val 12500"/>
            </a:avLst>
          </a:prstGeom>
          <a:solidFill>
            <a:srgbClr val="F7F5F1"/>
          </a:solidFill>
          <a:ln w="6350">
            <a:solidFill>
              <a:srgbClr val="EAE5DE"/>
            </a:solidFill>
            <a:prstDash val="solid"/>
          </a:ln>
        </p:spPr>
      </p:sp>
      <p:sp>
        <p:nvSpPr>
          <p:cNvPr id="6" name="Text 4"/>
          <p:cNvSpPr txBox="1"/>
          <p:nvPr/>
        </p:nvSpPr>
        <p:spPr>
          <a:xfrm>
            <a:off x="640080" y="1965960"/>
            <a:ext cx="2286000" cy="292608"/>
          </a:xfrm>
          <a:prstGeom prst="rect">
            <a:avLst/>
          </a:prstGeom>
          <a:noFill/>
          <a:ln/>
        </p:spPr>
        <p:txBody>
          <a:bodyPr wrap="square" lIns="0" tIns="0" rIns="0" bIns="0" rtlCol="0" anchor="ctr"/>
          <a:lstStyle/>
          <a:p>
            <a:pPr indent="0" marL="0">
              <a:buNone/>
            </a:pPr>
            <a:r>
              <a:rPr lang="en-US" sz="1400" b="1" dirty="0">
                <a:solidFill>
                  <a:srgbClr val="1C1C1E"/>
                </a:solidFill>
                <a:latin typeface="Calibri" pitchFamily="34" charset="0"/>
                <a:ea typeface="Calibri" pitchFamily="34" charset="-122"/>
                <a:cs typeface="Calibri" pitchFamily="34" charset="-120"/>
              </a:rPr>
              <a:t>M4 Mac</a:t>
            </a:r>
            <a:endParaRPr lang="en-US" sz="1400" dirty="0"/>
          </a:p>
        </p:txBody>
      </p:sp>
      <p:sp>
        <p:nvSpPr>
          <p:cNvPr id="7" name="Text 5"/>
          <p:cNvSpPr txBox="1"/>
          <p:nvPr/>
        </p:nvSpPr>
        <p:spPr>
          <a:xfrm>
            <a:off x="640080" y="2304288"/>
            <a:ext cx="2286000" cy="1097280"/>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Development · app · Pi hub</a:t>
            </a:r>
            <a:endParaRPr lang="en-US" sz="1050" dirty="0"/>
          </a:p>
        </p:txBody>
      </p:sp>
      <p:sp>
        <p:nvSpPr>
          <p:cNvPr id="8" name="Text 6"/>
          <p:cNvSpPr txBox="1"/>
          <p:nvPr/>
        </p:nvSpPr>
        <p:spPr>
          <a:xfrm>
            <a:off x="640080" y="3090672"/>
            <a:ext cx="2286000" cy="201168"/>
          </a:xfrm>
          <a:prstGeom prst="rect">
            <a:avLst/>
          </a:prstGeom>
          <a:noFill/>
          <a:ln/>
        </p:spPr>
        <p:txBody>
          <a:bodyPr wrap="square" lIns="0" tIns="0" rIns="0" bIns="0" rtlCol="0" anchor="ctr"/>
          <a:lstStyle/>
          <a:p>
            <a:pPr indent="0" marL="0">
              <a:buNone/>
            </a:pPr>
            <a:r>
              <a:rPr lang="en-US" sz="1000" b="1" dirty="0">
                <a:solidFill>
                  <a:srgbClr val="2A7A2A"/>
                </a:solidFill>
                <a:latin typeface="Calibri" pitchFamily="34" charset="0"/>
                <a:ea typeface="Calibri" pitchFamily="34" charset="-122"/>
                <a:cs typeface="Calibri" pitchFamily="34" charset="-120"/>
              </a:rPr>
              <a:t>✅  Connected · 50 samples</a:t>
            </a:r>
            <a:endParaRPr lang="en-US" sz="1000" dirty="0"/>
          </a:p>
        </p:txBody>
      </p:sp>
      <p:sp>
        <p:nvSpPr>
          <p:cNvPr id="9" name="Shape 7"/>
          <p:cNvSpPr/>
          <p:nvPr/>
        </p:nvSpPr>
        <p:spPr>
          <a:xfrm>
            <a:off x="3200400" y="1828800"/>
            <a:ext cx="2651760" cy="1463040"/>
          </a:xfrm>
          <a:prstGeom prst="roundRect">
            <a:avLst>
              <a:gd name="adj" fmla="val 12500"/>
            </a:avLst>
          </a:prstGeom>
          <a:solidFill>
            <a:srgbClr val="F7F5F1"/>
          </a:solidFill>
          <a:ln w="6350">
            <a:solidFill>
              <a:srgbClr val="EAE5DE"/>
            </a:solidFill>
            <a:prstDash val="solid"/>
          </a:ln>
        </p:spPr>
      </p:sp>
      <p:sp>
        <p:nvSpPr>
          <p:cNvPr id="10" name="Text 8"/>
          <p:cNvSpPr txBox="1"/>
          <p:nvPr/>
        </p:nvSpPr>
        <p:spPr>
          <a:xfrm>
            <a:off x="3383280" y="1965960"/>
            <a:ext cx="2286000" cy="292608"/>
          </a:xfrm>
          <a:prstGeom prst="rect">
            <a:avLst/>
          </a:prstGeom>
          <a:noFill/>
          <a:ln/>
        </p:spPr>
        <p:txBody>
          <a:bodyPr wrap="square" lIns="0" tIns="0" rIns="0" bIns="0" rtlCol="0" anchor="ctr"/>
          <a:lstStyle/>
          <a:p>
            <a:pPr indent="0" marL="0">
              <a:buNone/>
            </a:pPr>
            <a:r>
              <a:rPr lang="en-US" sz="1400" b="1" dirty="0">
                <a:solidFill>
                  <a:srgbClr val="1C1C1E"/>
                </a:solidFill>
                <a:latin typeface="Calibri" pitchFamily="34" charset="0"/>
                <a:ea typeface="Calibri" pitchFamily="34" charset="-122"/>
                <a:cs typeface="Calibri" pitchFamily="34" charset="-120"/>
              </a:rPr>
              <a:t>ML Desktop</a:t>
            </a:r>
            <a:endParaRPr lang="en-US" sz="1400" dirty="0"/>
          </a:p>
        </p:txBody>
      </p:sp>
      <p:sp>
        <p:nvSpPr>
          <p:cNvPr id="11" name="Text 9"/>
          <p:cNvSpPr txBox="1"/>
          <p:nvPr/>
        </p:nvSpPr>
        <p:spPr>
          <a:xfrm>
            <a:off x="3383280" y="2304288"/>
            <a:ext cx="2286000" cy="1097280"/>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Ryzen 9900X · RTX 5060 Ti</a:t>
            </a:r>
            <a:endParaRPr lang="en-US" sz="1050" dirty="0"/>
          </a:p>
          <a:p>
            <a:pPr indent="0" marL="0">
              <a:buNone/>
            </a:pPr>
            <a:r>
              <a:rPr lang="en-US" sz="1050" dirty="0">
                <a:solidFill>
                  <a:srgbClr val="4A4A4E"/>
                </a:solidFill>
                <a:latin typeface="Calibri" pitchFamily="34" charset="0"/>
                <a:ea typeface="Calibri" pitchFamily="34" charset="-122"/>
                <a:cs typeface="Calibri" pitchFamily="34" charset="-120"/>
              </a:rPr>
              <a:t>Stage 3 ML training</a:t>
            </a:r>
            <a:endParaRPr lang="en-US" sz="1050" dirty="0"/>
          </a:p>
        </p:txBody>
      </p:sp>
      <p:sp>
        <p:nvSpPr>
          <p:cNvPr id="12" name="Text 10"/>
          <p:cNvSpPr txBox="1"/>
          <p:nvPr/>
        </p:nvSpPr>
        <p:spPr>
          <a:xfrm>
            <a:off x="3383280" y="3090672"/>
            <a:ext cx="2286000" cy="201168"/>
          </a:xfrm>
          <a:prstGeom prst="rect">
            <a:avLst/>
          </a:prstGeom>
          <a:noFill/>
          <a:ln/>
        </p:spPr>
        <p:txBody>
          <a:bodyPr wrap="square" lIns="0" tIns="0" rIns="0" bIns="0" rtlCol="0" anchor="ctr"/>
          <a:lstStyle/>
          <a:p>
            <a:pPr indent="0" marL="0">
              <a:buNone/>
            </a:pPr>
            <a:r>
              <a:rPr lang="en-US" sz="1000" b="1" dirty="0">
                <a:solidFill>
                  <a:srgbClr val="2A7A2A"/>
                </a:solidFill>
                <a:latin typeface="Calibri" pitchFamily="34" charset="0"/>
                <a:ea typeface="Calibri" pitchFamily="34" charset="-122"/>
                <a:cs typeface="Calibri" pitchFamily="34" charset="-120"/>
              </a:rPr>
              <a:t>✅  Connected · 50 samples</a:t>
            </a:r>
            <a:endParaRPr lang="en-US" sz="1000" dirty="0"/>
          </a:p>
        </p:txBody>
      </p:sp>
      <p:sp>
        <p:nvSpPr>
          <p:cNvPr id="13" name="Shape 11"/>
          <p:cNvSpPr/>
          <p:nvPr/>
        </p:nvSpPr>
        <p:spPr>
          <a:xfrm>
            <a:off x="5943600" y="1828800"/>
            <a:ext cx="2651760" cy="1828800"/>
          </a:xfrm>
          <a:prstGeom prst="roundRect">
            <a:avLst>
              <a:gd name="adj" fmla="val 10000"/>
            </a:avLst>
          </a:prstGeom>
          <a:solidFill>
            <a:srgbClr val="1E1E20"/>
          </a:solidFill>
          <a:ln w="19050">
            <a:solidFill>
              <a:srgbClr val="B56A2A"/>
            </a:solidFill>
            <a:prstDash val="solid"/>
          </a:ln>
        </p:spPr>
      </p:sp>
      <p:sp>
        <p:nvSpPr>
          <p:cNvPr id="14" name="Text 12"/>
          <p:cNvSpPr txBox="1"/>
          <p:nvPr/>
        </p:nvSpPr>
        <p:spPr>
          <a:xfrm>
            <a:off x="6126480" y="1965960"/>
            <a:ext cx="22860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Home Server</a:t>
            </a:r>
            <a:endParaRPr lang="en-US" sz="1400" dirty="0"/>
          </a:p>
        </p:txBody>
      </p:sp>
      <p:sp>
        <p:nvSpPr>
          <p:cNvPr id="15" name="Text 13"/>
          <p:cNvSpPr txBox="1"/>
          <p:nvPr/>
        </p:nvSpPr>
        <p:spPr>
          <a:xfrm>
            <a:off x="6126480" y="2304288"/>
            <a:ext cx="2286000" cy="1097280"/>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AMD FX-4320 · Ubuntu Server</a:t>
            </a:r>
            <a:endParaRPr lang="en-US" sz="1050" dirty="0"/>
          </a:p>
          <a:p>
            <a:pPr indent="0" marL="0">
              <a:buNone/>
            </a:pPr>
            <a:r>
              <a:rPr lang="en-US" sz="1050" dirty="0">
                <a:solidFill>
                  <a:srgbClr val="AAAAAA"/>
                </a:solidFill>
                <a:latin typeface="Calibri" pitchFamily="34" charset="0"/>
                <a:ea typeface="Calibri" pitchFamily="34" charset="-122"/>
                <a:cs typeface="Calibri" pitchFamily="34" charset="-120"/>
              </a:rPr>
              <a:t>PostgreSQL 17 · Docker</a:t>
            </a:r>
            <a:endParaRPr lang="en-US" sz="1050" dirty="0"/>
          </a:p>
          <a:p>
            <a:pPr indent="0" marL="0">
              <a:buNone/>
            </a:pPr>
            <a:r>
              <a:rPr lang="en-US" sz="1050" dirty="0">
                <a:solidFill>
                  <a:srgbClr val="AAAAAA"/>
                </a:solidFill>
                <a:latin typeface="Calibri" pitchFamily="34" charset="0"/>
                <a:ea typeface="Calibri" pitchFamily="34" charset="-122"/>
                <a:cs typeface="Calibri" pitchFamily="34" charset="-120"/>
              </a:rPr>
              <a:t>Wake-on-LAN enabled</a:t>
            </a:r>
            <a:endParaRPr lang="en-US" sz="1050" dirty="0"/>
          </a:p>
        </p:txBody>
      </p:sp>
      <p:sp>
        <p:nvSpPr>
          <p:cNvPr id="16" name="Shape 14"/>
          <p:cNvSpPr/>
          <p:nvPr/>
        </p:nvSpPr>
        <p:spPr>
          <a:xfrm>
            <a:off x="3108960" y="2606040"/>
            <a:ext cx="548640" cy="0"/>
          </a:xfrm>
          <a:prstGeom prst="line">
            <a:avLst/>
          </a:prstGeom>
          <a:noFill/>
          <a:ln w="19050">
            <a:solidFill>
              <a:srgbClr val="B56A2A"/>
            </a:solidFill>
            <a:prstDash val="solid"/>
          </a:ln>
        </p:spPr>
      </p:sp>
      <p:sp>
        <p:nvSpPr>
          <p:cNvPr id="17" name="Text 15"/>
          <p:cNvSpPr txBox="1"/>
          <p:nvPr/>
        </p:nvSpPr>
        <p:spPr>
          <a:xfrm>
            <a:off x="3127248" y="2487168"/>
            <a:ext cx="512064" cy="237744"/>
          </a:xfrm>
          <a:prstGeom prst="rect">
            <a:avLst/>
          </a:prstGeom>
          <a:noFill/>
          <a:ln/>
        </p:spPr>
        <p:txBody>
          <a:bodyPr wrap="square" lIns="0" tIns="0" rIns="0" bIns="0" rtlCol="0" anchor="ctr"/>
          <a:lstStyle/>
          <a:p>
            <a:pPr algn="ctr" indent="0" marL="0">
              <a:buNone/>
            </a:pPr>
            <a:r>
              <a:rPr lang="en-US" sz="1600" dirty="0">
                <a:solidFill>
                  <a:srgbClr val="B56A2A"/>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5852160" y="2606040"/>
            <a:ext cx="548640" cy="0"/>
          </a:xfrm>
          <a:prstGeom prst="line">
            <a:avLst/>
          </a:prstGeom>
          <a:noFill/>
          <a:ln w="19050">
            <a:solidFill>
              <a:srgbClr val="B56A2A"/>
            </a:solidFill>
            <a:prstDash val="solid"/>
          </a:ln>
        </p:spPr>
      </p:sp>
      <p:sp>
        <p:nvSpPr>
          <p:cNvPr id="19" name="Text 17"/>
          <p:cNvSpPr txBox="1"/>
          <p:nvPr/>
        </p:nvSpPr>
        <p:spPr>
          <a:xfrm>
            <a:off x="5870448" y="2487168"/>
            <a:ext cx="512064" cy="237744"/>
          </a:xfrm>
          <a:prstGeom prst="rect">
            <a:avLst/>
          </a:prstGeom>
          <a:noFill/>
          <a:ln/>
        </p:spPr>
        <p:txBody>
          <a:bodyPr wrap="square" lIns="0" tIns="0" rIns="0" bIns="0" rtlCol="0" anchor="ctr"/>
          <a:lstStyle/>
          <a:p>
            <a:pPr algn="ctr" indent="0" marL="0">
              <a:buNone/>
            </a:pPr>
            <a:r>
              <a:rPr lang="en-US" sz="1600" dirty="0">
                <a:solidFill>
                  <a:srgbClr val="B56A2A"/>
                </a:solidFill>
                <a:latin typeface="Calibri" pitchFamily="34" charset="0"/>
                <a:ea typeface="Calibri" pitchFamily="34" charset="-122"/>
                <a:cs typeface="Calibri" pitchFamily="34" charset="-120"/>
              </a:rPr>
              <a:t>→</a:t>
            </a:r>
            <a:endParaRPr lang="en-US" sz="1600" dirty="0"/>
          </a:p>
        </p:txBody>
      </p:sp>
      <p:sp>
        <p:nvSpPr>
          <p:cNvPr id="20" name="Text 18"/>
          <p:cNvSpPr txBox="1"/>
          <p:nvPr/>
        </p:nvSpPr>
        <p:spPr>
          <a:xfrm>
            <a:off x="457200" y="3931920"/>
            <a:ext cx="1828800" cy="384048"/>
          </a:xfrm>
          <a:prstGeom prst="rect">
            <a:avLst/>
          </a:prstGeom>
          <a:noFill/>
          <a:ln/>
        </p:spPr>
        <p:txBody>
          <a:bodyPr wrap="square" lIns="0" tIns="0" rIns="0" bIns="0" rtlCol="0" anchor="ctr"/>
          <a:lstStyle/>
          <a:p>
            <a:pPr indent="0" marL="0">
              <a:buNone/>
            </a:pPr>
            <a:r>
              <a:rPr lang="en-US" sz="2800" b="1" dirty="0">
                <a:solidFill>
                  <a:srgbClr val="B56A2A"/>
                </a:solidFill>
                <a:latin typeface="Georgia" pitchFamily="34" charset="0"/>
                <a:ea typeface="Georgia" pitchFamily="34" charset="-122"/>
                <a:cs typeface="Georgia" pitchFamily="34" charset="-120"/>
              </a:rPr>
              <a:t>50</a:t>
            </a:r>
            <a:endParaRPr lang="en-US" sz="2800" dirty="0"/>
          </a:p>
        </p:txBody>
      </p:sp>
      <p:sp>
        <p:nvSpPr>
          <p:cNvPr id="21" name="Text 19"/>
          <p:cNvSpPr txBox="1"/>
          <p:nvPr/>
        </p:nvSpPr>
        <p:spPr>
          <a:xfrm>
            <a:off x="457200" y="4315968"/>
            <a:ext cx="1828800" cy="201168"/>
          </a:xfrm>
          <a:prstGeom prst="rect">
            <a:avLst/>
          </a:prstGeom>
          <a:noFill/>
          <a:ln/>
        </p:spPr>
        <p:txBody>
          <a:bodyPr wrap="square" lIns="0" tIns="0" rIns="0" bIns="0" rtlCol="0" anchor="ctr"/>
          <a:lstStyle/>
          <a:p>
            <a:pPr indent="0" marL="0">
              <a:buNone/>
            </a:pPr>
            <a:r>
              <a:rPr lang="en-US" sz="1000" dirty="0">
                <a:solidFill>
                  <a:srgbClr val="7A7A7A"/>
                </a:solidFill>
                <a:latin typeface="Calibri" pitchFamily="34" charset="0"/>
                <a:ea typeface="Calibri" pitchFamily="34" charset="-122"/>
                <a:cs typeface="Calibri" pitchFamily="34" charset="-120"/>
              </a:rPr>
              <a:t>samples</a:t>
            </a:r>
            <a:endParaRPr lang="en-US" sz="1000" dirty="0"/>
          </a:p>
        </p:txBody>
      </p:sp>
      <p:sp>
        <p:nvSpPr>
          <p:cNvPr id="22" name="Text 20"/>
          <p:cNvSpPr txBox="1"/>
          <p:nvPr/>
        </p:nvSpPr>
        <p:spPr>
          <a:xfrm>
            <a:off x="2514600" y="3931920"/>
            <a:ext cx="1828800" cy="384048"/>
          </a:xfrm>
          <a:prstGeom prst="rect">
            <a:avLst/>
          </a:prstGeom>
          <a:noFill/>
          <a:ln/>
        </p:spPr>
        <p:txBody>
          <a:bodyPr wrap="square" lIns="0" tIns="0" rIns="0" bIns="0" rtlCol="0" anchor="ctr"/>
          <a:lstStyle/>
          <a:p>
            <a:pPr indent="0" marL="0">
              <a:buNone/>
            </a:pPr>
            <a:r>
              <a:rPr lang="en-US" sz="2800" b="1" dirty="0">
                <a:solidFill>
                  <a:srgbClr val="B56A2A"/>
                </a:solidFill>
                <a:latin typeface="Georgia" pitchFamily="34" charset="0"/>
                <a:ea typeface="Georgia" pitchFamily="34" charset="-122"/>
                <a:cs typeface="Georgia" pitchFamily="34" charset="-120"/>
              </a:rPr>
              <a:t>16</a:t>
            </a:r>
            <a:endParaRPr lang="en-US" sz="2800" dirty="0"/>
          </a:p>
        </p:txBody>
      </p:sp>
      <p:sp>
        <p:nvSpPr>
          <p:cNvPr id="23" name="Text 21"/>
          <p:cNvSpPr txBox="1"/>
          <p:nvPr/>
        </p:nvSpPr>
        <p:spPr>
          <a:xfrm>
            <a:off x="2514600" y="4315968"/>
            <a:ext cx="1828800" cy="201168"/>
          </a:xfrm>
          <a:prstGeom prst="rect">
            <a:avLst/>
          </a:prstGeom>
          <a:noFill/>
          <a:ln/>
        </p:spPr>
        <p:txBody>
          <a:bodyPr wrap="square" lIns="0" tIns="0" rIns="0" bIns="0" rtlCol="0" anchor="ctr"/>
          <a:lstStyle/>
          <a:p>
            <a:pPr indent="0" marL="0">
              <a:buNone/>
            </a:pPr>
            <a:r>
              <a:rPr lang="en-US" sz="1000" dirty="0">
                <a:solidFill>
                  <a:srgbClr val="7A7A7A"/>
                </a:solidFill>
                <a:latin typeface="Calibri" pitchFamily="34" charset="0"/>
                <a:ea typeface="Calibri" pitchFamily="34" charset="-122"/>
                <a:cs typeface="Calibri" pitchFamily="34" charset="-120"/>
              </a:rPr>
              <a:t>tables</a:t>
            </a:r>
            <a:endParaRPr lang="en-US" sz="1000" dirty="0"/>
          </a:p>
        </p:txBody>
      </p:sp>
      <p:sp>
        <p:nvSpPr>
          <p:cNvPr id="24" name="Text 22"/>
          <p:cNvSpPr txBox="1"/>
          <p:nvPr/>
        </p:nvSpPr>
        <p:spPr>
          <a:xfrm>
            <a:off x="4572000" y="3931920"/>
            <a:ext cx="1828800" cy="384048"/>
          </a:xfrm>
          <a:prstGeom prst="rect">
            <a:avLst/>
          </a:prstGeom>
          <a:noFill/>
          <a:ln/>
        </p:spPr>
        <p:txBody>
          <a:bodyPr wrap="square" lIns="0" tIns="0" rIns="0" bIns="0" rtlCol="0" anchor="ctr"/>
          <a:lstStyle/>
          <a:p>
            <a:pPr indent="0" marL="0">
              <a:buNone/>
            </a:pPr>
            <a:r>
              <a:rPr lang="en-US" sz="2800" b="1" dirty="0">
                <a:solidFill>
                  <a:srgbClr val="B56A2A"/>
                </a:solidFill>
                <a:latin typeface="Georgia" pitchFamily="34" charset="0"/>
                <a:ea typeface="Georgia" pitchFamily="34" charset="-122"/>
                <a:cs typeface="Georgia" pitchFamily="34" charset="-120"/>
              </a:rPr>
              <a:t>170</a:t>
            </a:r>
            <a:endParaRPr lang="en-US" sz="2800" dirty="0"/>
          </a:p>
        </p:txBody>
      </p:sp>
      <p:sp>
        <p:nvSpPr>
          <p:cNvPr id="25" name="Text 23"/>
          <p:cNvSpPr txBox="1"/>
          <p:nvPr/>
        </p:nvSpPr>
        <p:spPr>
          <a:xfrm>
            <a:off x="4572000" y="4315968"/>
            <a:ext cx="1828800" cy="201168"/>
          </a:xfrm>
          <a:prstGeom prst="rect">
            <a:avLst/>
          </a:prstGeom>
          <a:noFill/>
          <a:ln/>
        </p:spPr>
        <p:txBody>
          <a:bodyPr wrap="square" lIns="0" tIns="0" rIns="0" bIns="0" rtlCol="0" anchor="ctr"/>
          <a:lstStyle/>
          <a:p>
            <a:pPr indent="0" marL="0">
              <a:buNone/>
            </a:pPr>
            <a:r>
              <a:rPr lang="en-US" sz="1000" dirty="0">
                <a:solidFill>
                  <a:srgbClr val="7A7A7A"/>
                </a:solidFill>
                <a:latin typeface="Calibri" pitchFamily="34" charset="0"/>
                <a:ea typeface="Calibri" pitchFamily="34" charset="-122"/>
                <a:cs typeface="Calibri" pitchFamily="34" charset="-120"/>
              </a:rPr>
              <a:t>XRD peaks</a:t>
            </a:r>
            <a:endParaRPr lang="en-US" sz="1000" dirty="0"/>
          </a:p>
        </p:txBody>
      </p:sp>
      <p:sp>
        <p:nvSpPr>
          <p:cNvPr id="26" name="Text 24"/>
          <p:cNvSpPr txBox="1"/>
          <p:nvPr/>
        </p:nvSpPr>
        <p:spPr>
          <a:xfrm>
            <a:off x="6629400" y="3931920"/>
            <a:ext cx="1828800" cy="384048"/>
          </a:xfrm>
          <a:prstGeom prst="rect">
            <a:avLst/>
          </a:prstGeom>
          <a:noFill/>
          <a:ln/>
        </p:spPr>
        <p:txBody>
          <a:bodyPr wrap="square" lIns="0" tIns="0" rIns="0" bIns="0" rtlCol="0" anchor="ctr"/>
          <a:lstStyle/>
          <a:p>
            <a:pPr indent="0" marL="0">
              <a:buNone/>
            </a:pPr>
            <a:r>
              <a:rPr lang="en-US" sz="2800" b="1" dirty="0">
                <a:solidFill>
                  <a:srgbClr val="B56A2A"/>
                </a:solidFill>
                <a:latin typeface="Georgia" pitchFamily="34" charset="0"/>
                <a:ea typeface="Georgia" pitchFamily="34" charset="-122"/>
                <a:cs typeface="Georgia" pitchFamily="34" charset="-120"/>
              </a:rPr>
              <a:t>92</a:t>
            </a:r>
            <a:endParaRPr lang="en-US" sz="2800" dirty="0"/>
          </a:p>
        </p:txBody>
      </p:sp>
      <p:sp>
        <p:nvSpPr>
          <p:cNvPr id="27" name="Text 25"/>
          <p:cNvSpPr txBox="1"/>
          <p:nvPr/>
        </p:nvSpPr>
        <p:spPr>
          <a:xfrm>
            <a:off x="6629400" y="4315968"/>
            <a:ext cx="1828800" cy="201168"/>
          </a:xfrm>
          <a:prstGeom prst="rect">
            <a:avLst/>
          </a:prstGeom>
          <a:noFill/>
          <a:ln/>
        </p:spPr>
        <p:txBody>
          <a:bodyPr wrap="square" lIns="0" tIns="0" rIns="0" bIns="0" rtlCol="0" anchor="ctr"/>
          <a:lstStyle/>
          <a:p>
            <a:pPr indent="0" marL="0">
              <a:buNone/>
            </a:pPr>
            <a:r>
              <a:rPr lang="en-US" sz="1000" dirty="0">
                <a:solidFill>
                  <a:srgbClr val="7A7A7A"/>
                </a:solidFill>
                <a:latin typeface="Calibri" pitchFamily="34" charset="0"/>
                <a:ea typeface="Calibri" pitchFamily="34" charset="-122"/>
                <a:cs typeface="Calibri" pitchFamily="34" charset="-120"/>
              </a:rPr>
              <a:t>char. records</a:t>
            </a:r>
            <a:endParaRPr lang="en-US" sz="1000" dirty="0"/>
          </a:p>
        </p:txBody>
      </p:sp>
      <p:sp>
        <p:nvSpPr>
          <p:cNvPr id="28" name="Shape 26"/>
          <p:cNvSpPr/>
          <p:nvPr/>
        </p:nvSpPr>
        <p:spPr>
          <a:xfrm>
            <a:off x="457200" y="4617720"/>
            <a:ext cx="8229600" cy="347472"/>
          </a:xfrm>
          <a:prstGeom prst="rect">
            <a:avLst/>
          </a:prstGeom>
          <a:solidFill>
            <a:srgbClr val="F3F0EA"/>
          </a:solidFill>
          <a:ln w="12700">
            <a:solidFill>
              <a:srgbClr val="C9C2B8"/>
            </a:solidFill>
            <a:prstDash val="dash"/>
          </a:ln>
        </p:spPr>
      </p:sp>
      <p:sp>
        <p:nvSpPr>
          <p:cNvPr id="29" name="Text 27"/>
          <p:cNvSpPr txBox="1"/>
          <p:nvPr/>
        </p:nvSpPr>
        <p:spPr>
          <a:xfrm>
            <a:off x="457200" y="4626864"/>
            <a:ext cx="8229600" cy="329184"/>
          </a:xfrm>
          <a:prstGeom prst="rect">
            <a:avLst/>
          </a:prstGeom>
          <a:noFill/>
          <a:ln/>
        </p:spPr>
        <p:txBody>
          <a:bodyPr wrap="square" lIns="0" tIns="0" rIns="0" bIns="0" rtlCol="0" anchor="ctr"/>
          <a:lstStyle/>
          <a:p>
            <a:pPr algn="ctr" indent="0" marL="0">
              <a:buNone/>
            </a:pPr>
            <a:r>
              <a:rPr lang="en-US" sz="1000" dirty="0">
                <a:solidFill>
                  <a:srgbClr val="7A7A7A"/>
                </a:solidFill>
                <a:latin typeface="Calibri" pitchFamily="34" charset="0"/>
                <a:ea typeface="Calibri" pitchFamily="34" charset="-122"/>
                <a:cs typeface="Calibri" pitchFamily="34" charset="-120"/>
              </a:rPr>
              <a:t>📷  Three terminal windows — Mac · ML Desktop · server — all confirming Samples: 50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01168"/>
          </a:xfrm>
          <a:prstGeom prst="rect">
            <a:avLst/>
          </a:prstGeom>
          <a:noFill/>
          <a:ln/>
        </p:spPr>
        <p:txBody>
          <a:bodyPr wrap="square" lIns="0" tIns="0" rIns="0" bIns="0" rtlCol="0" anchor="ctr"/>
          <a:lstStyle/>
          <a:p>
            <a:pPr indent="0" marL="0">
              <a:buNone/>
            </a:pPr>
            <a:r>
              <a:rPr lang="en-US" sz="800" b="1" spc="300" kern="0" dirty="0">
                <a:solidFill>
                  <a:srgbClr val="B56A2A"/>
                </a:solidFill>
                <a:latin typeface="Calibri" pitchFamily="34" charset="0"/>
                <a:ea typeface="Calibri" pitchFamily="34" charset="-122"/>
                <a:cs typeface="Calibri" pitchFamily="34" charset="-120"/>
              </a:rPr>
              <a:t>NEXT · STAGE 3</a:t>
            </a:r>
            <a:endParaRPr lang="en-US" sz="800" dirty="0"/>
          </a:p>
        </p:txBody>
      </p:sp>
      <p:sp>
        <p:nvSpPr>
          <p:cNvPr id="3" name="Text 1"/>
          <p:cNvSpPr txBox="1"/>
          <p:nvPr/>
        </p:nvSpPr>
        <p:spPr>
          <a:xfrm>
            <a:off x="457200" y="594360"/>
            <a:ext cx="8229600" cy="594360"/>
          </a:xfrm>
          <a:prstGeom prst="rect">
            <a:avLst/>
          </a:prstGeom>
          <a:noFill/>
          <a:ln/>
        </p:spPr>
        <p:txBody>
          <a:bodyPr wrap="square" lIns="0" tIns="0" rIns="0" bIns="0" rtlCol="0" anchor="ctr"/>
          <a:lstStyle/>
          <a:p>
            <a:pPr indent="0" marL="0">
              <a:buNone/>
            </a:pPr>
            <a:r>
              <a:rPr lang="en-US" sz="3000" b="1" dirty="0">
                <a:solidFill>
                  <a:srgbClr val="1C1C1E"/>
                </a:solidFill>
                <a:latin typeface="Georgia" pitchFamily="34" charset="0"/>
                <a:ea typeface="Georgia" pitchFamily="34" charset="-122"/>
                <a:cs typeface="Georgia" pitchFamily="34" charset="-120"/>
              </a:rPr>
              <a:t>The database is ready to train on</a:t>
            </a:r>
            <a:endParaRPr lang="en-US" sz="3000" dirty="0"/>
          </a:p>
        </p:txBody>
      </p:sp>
      <p:sp>
        <p:nvSpPr>
          <p:cNvPr id="4" name="Text 2"/>
          <p:cNvSpPr txBox="1"/>
          <p:nvPr/>
        </p:nvSpPr>
        <p:spPr>
          <a:xfrm>
            <a:off x="457200" y="1261872"/>
            <a:ext cx="8229600" cy="274320"/>
          </a:xfrm>
          <a:prstGeom prst="rect">
            <a:avLst/>
          </a:prstGeom>
          <a:noFill/>
          <a:ln/>
        </p:spPr>
        <p:txBody>
          <a:bodyPr wrap="square" lIns="0" tIns="0" rIns="0" bIns="0" rtlCol="0" anchor="ctr"/>
          <a:lstStyle/>
          <a:p>
            <a:pPr indent="0" marL="0">
              <a:buNone/>
            </a:pPr>
            <a:r>
              <a:rPr lang="en-US" sz="1300" dirty="0">
                <a:solidFill>
                  <a:srgbClr val="4A4A4E"/>
                </a:solidFill>
                <a:latin typeface="Calibri" pitchFamily="34" charset="0"/>
                <a:ea typeface="Calibri" pitchFamily="34" charset="-122"/>
                <a:cs typeface="Calibri" pitchFamily="34" charset="-120"/>
              </a:rPr>
              <a:t>Everything built in Stage 2 was designed with this loop in mind:</a:t>
            </a:r>
            <a:endParaRPr lang="en-US" sz="1300" dirty="0"/>
          </a:p>
        </p:txBody>
      </p:sp>
      <p:sp>
        <p:nvSpPr>
          <p:cNvPr id="5" name="Shape 3"/>
          <p:cNvSpPr/>
          <p:nvPr/>
        </p:nvSpPr>
        <p:spPr>
          <a:xfrm>
            <a:off x="347472" y="1691640"/>
            <a:ext cx="1554480" cy="1417320"/>
          </a:xfrm>
          <a:prstGeom prst="roundRect">
            <a:avLst>
              <a:gd name="adj" fmla="val 11613"/>
            </a:avLst>
          </a:prstGeom>
          <a:solidFill>
            <a:srgbClr val="F7F5F1"/>
          </a:solidFill>
          <a:ln w="6350">
            <a:solidFill>
              <a:srgbClr val="EAE5DE"/>
            </a:solidFill>
            <a:prstDash val="solid"/>
          </a:ln>
        </p:spPr>
      </p:sp>
      <p:sp>
        <p:nvSpPr>
          <p:cNvPr id="6" name="Text 4"/>
          <p:cNvSpPr txBox="1"/>
          <p:nvPr/>
        </p:nvSpPr>
        <p:spPr>
          <a:xfrm>
            <a:off x="438912" y="1810512"/>
            <a:ext cx="1371600" cy="3657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7" name="Text 5"/>
          <p:cNvSpPr txBox="1"/>
          <p:nvPr/>
        </p:nvSpPr>
        <p:spPr>
          <a:xfrm>
            <a:off x="438912" y="2231136"/>
            <a:ext cx="1371600" cy="822960"/>
          </a:xfrm>
          <a:prstGeom prst="rect">
            <a:avLst/>
          </a:prstGeom>
          <a:noFill/>
          <a:ln/>
        </p:spPr>
        <p:txBody>
          <a:bodyPr wrap="square" lIns="0" tIns="0" rIns="0" bIns="0" rtlCol="0" anchor="ctr"/>
          <a:lstStyle/>
          <a:p>
            <a:pPr algn="ctr" indent="0" marL="0">
              <a:buNone/>
            </a:pPr>
            <a:r>
              <a:rPr lang="en-US" sz="1000" dirty="0">
                <a:solidFill>
                  <a:srgbClr val="1C1C1E"/>
                </a:solidFill>
                <a:latin typeface="Calibri" pitchFamily="34" charset="0"/>
                <a:ea typeface="Calibri" pitchFamily="34" charset="-122"/>
                <a:cs typeface="Calibri" pitchFamily="34" charset="-120"/>
              </a:rPr>
              <a:t>Feature matrix</a:t>
            </a:r>
            <a:endParaRPr lang="en-US" sz="1000" dirty="0"/>
          </a:p>
          <a:p>
            <a:pPr algn="ctr" indent="0" marL="0">
              <a:buNone/>
            </a:pPr>
            <a:r>
              <a:rPr lang="en-US" sz="1000" dirty="0">
                <a:solidFill>
                  <a:srgbClr val="1C1C1E"/>
                </a:solidFill>
                <a:latin typeface="Calibri" pitchFamily="34" charset="0"/>
                <a:ea typeface="Calibri" pitchFamily="34" charset="-122"/>
                <a:cs typeface="Calibri" pitchFamily="34" charset="-120"/>
              </a:rPr>
              <a:t>compositions + structural features</a:t>
            </a:r>
            <a:endParaRPr lang="en-US" sz="1000" dirty="0"/>
          </a:p>
        </p:txBody>
      </p:sp>
      <p:sp>
        <p:nvSpPr>
          <p:cNvPr id="8" name="Text 6"/>
          <p:cNvSpPr txBox="1"/>
          <p:nvPr/>
        </p:nvSpPr>
        <p:spPr>
          <a:xfrm>
            <a:off x="1901952" y="2194560"/>
            <a:ext cx="128016" cy="292608"/>
          </a:xfrm>
          <a:prstGeom prst="rect">
            <a:avLst/>
          </a:prstGeom>
          <a:noFill/>
          <a:ln/>
        </p:spPr>
        <p:txBody>
          <a:bodyPr wrap="square" lIns="0" tIns="0" rIns="0" bIns="0" rtlCol="0" anchor="ctr"/>
          <a:lstStyle/>
          <a:p>
            <a:pPr indent="0" marL="0">
              <a:buNone/>
            </a:pPr>
            <a:r>
              <a:rPr lang="en-US" sz="1600" dirty="0">
                <a:solidFill>
                  <a:srgbClr val="B56A2A"/>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2029968" y="1691640"/>
            <a:ext cx="1554480" cy="1417320"/>
          </a:xfrm>
          <a:prstGeom prst="roundRect">
            <a:avLst>
              <a:gd name="adj" fmla="val 11613"/>
            </a:avLst>
          </a:prstGeom>
          <a:solidFill>
            <a:srgbClr val="F7F5F1"/>
          </a:solidFill>
          <a:ln w="6350">
            <a:solidFill>
              <a:srgbClr val="EAE5DE"/>
            </a:solidFill>
            <a:prstDash val="solid"/>
          </a:ln>
        </p:spPr>
      </p:sp>
      <p:sp>
        <p:nvSpPr>
          <p:cNvPr id="10" name="Text 8"/>
          <p:cNvSpPr txBox="1"/>
          <p:nvPr/>
        </p:nvSpPr>
        <p:spPr>
          <a:xfrm>
            <a:off x="2121408" y="1810512"/>
            <a:ext cx="1371600" cy="3657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Text 9"/>
          <p:cNvSpPr txBox="1"/>
          <p:nvPr/>
        </p:nvSpPr>
        <p:spPr>
          <a:xfrm>
            <a:off x="2121408" y="2231136"/>
            <a:ext cx="1371600" cy="822960"/>
          </a:xfrm>
          <a:prstGeom prst="rect">
            <a:avLst/>
          </a:prstGeom>
          <a:noFill/>
          <a:ln/>
        </p:spPr>
        <p:txBody>
          <a:bodyPr wrap="square" lIns="0" tIns="0" rIns="0" bIns="0" rtlCol="0" anchor="ctr"/>
          <a:lstStyle/>
          <a:p>
            <a:pPr algn="ctr" indent="0" marL="0">
              <a:buNone/>
            </a:pPr>
            <a:r>
              <a:rPr lang="en-US" sz="1000" dirty="0">
                <a:solidFill>
                  <a:srgbClr val="1C1C1E"/>
                </a:solidFill>
                <a:latin typeface="Calibri" pitchFamily="34" charset="0"/>
                <a:ea typeface="Calibri" pitchFamily="34" charset="-122"/>
                <a:cs typeface="Calibri" pitchFamily="34" charset="-120"/>
              </a:rPr>
              <a:t>GP / Neural Network</a:t>
            </a:r>
            <a:endParaRPr lang="en-US" sz="1000" dirty="0"/>
          </a:p>
          <a:p>
            <a:pPr algn="ctr" indent="0" marL="0">
              <a:buNone/>
            </a:pPr>
            <a:r>
              <a:rPr lang="en-US" sz="1000" dirty="0">
                <a:solidFill>
                  <a:srgbClr val="1C1C1E"/>
                </a:solidFill>
                <a:latin typeface="Calibri" pitchFamily="34" charset="0"/>
                <a:ea typeface="Calibri" pitchFamily="34" charset="-122"/>
                <a:cs typeface="Calibri" pitchFamily="34" charset="-120"/>
              </a:rPr>
              <a:t>regression model</a:t>
            </a:r>
            <a:endParaRPr lang="en-US" sz="1000" dirty="0"/>
          </a:p>
        </p:txBody>
      </p:sp>
      <p:sp>
        <p:nvSpPr>
          <p:cNvPr id="12" name="Text 10"/>
          <p:cNvSpPr txBox="1"/>
          <p:nvPr/>
        </p:nvSpPr>
        <p:spPr>
          <a:xfrm>
            <a:off x="3584448" y="2194560"/>
            <a:ext cx="128016" cy="292608"/>
          </a:xfrm>
          <a:prstGeom prst="rect">
            <a:avLst/>
          </a:prstGeom>
          <a:noFill/>
          <a:ln/>
        </p:spPr>
        <p:txBody>
          <a:bodyPr wrap="square" lIns="0" tIns="0" rIns="0" bIns="0" rtlCol="0" anchor="ctr"/>
          <a:lstStyle/>
          <a:p>
            <a:pPr indent="0" marL="0">
              <a:buNone/>
            </a:pPr>
            <a:r>
              <a:rPr lang="en-US" sz="1600" dirty="0">
                <a:solidFill>
                  <a:srgbClr val="B56A2A"/>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3712464" y="1691640"/>
            <a:ext cx="1554480" cy="1417320"/>
          </a:xfrm>
          <a:prstGeom prst="roundRect">
            <a:avLst>
              <a:gd name="adj" fmla="val 11613"/>
            </a:avLst>
          </a:prstGeom>
          <a:solidFill>
            <a:srgbClr val="F7F5F1"/>
          </a:solidFill>
          <a:ln w="6350">
            <a:solidFill>
              <a:srgbClr val="EAE5DE"/>
            </a:solidFill>
            <a:prstDash val="solid"/>
          </a:ln>
        </p:spPr>
      </p:sp>
      <p:sp>
        <p:nvSpPr>
          <p:cNvPr id="14" name="Text 12"/>
          <p:cNvSpPr txBox="1"/>
          <p:nvPr/>
        </p:nvSpPr>
        <p:spPr>
          <a:xfrm>
            <a:off x="3803904" y="1810512"/>
            <a:ext cx="1371600" cy="3657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5" name="Text 13"/>
          <p:cNvSpPr txBox="1"/>
          <p:nvPr/>
        </p:nvSpPr>
        <p:spPr>
          <a:xfrm>
            <a:off x="3803904" y="2231136"/>
            <a:ext cx="1371600" cy="822960"/>
          </a:xfrm>
          <a:prstGeom prst="rect">
            <a:avLst/>
          </a:prstGeom>
          <a:noFill/>
          <a:ln/>
        </p:spPr>
        <p:txBody>
          <a:bodyPr wrap="square" lIns="0" tIns="0" rIns="0" bIns="0" rtlCol="0" anchor="ctr"/>
          <a:lstStyle/>
          <a:p>
            <a:pPr algn="ctr" indent="0" marL="0">
              <a:buNone/>
            </a:pPr>
            <a:r>
              <a:rPr lang="en-US" sz="1000" dirty="0">
                <a:solidFill>
                  <a:srgbClr val="1C1C1E"/>
                </a:solidFill>
                <a:latin typeface="Calibri" pitchFamily="34" charset="0"/>
                <a:ea typeface="Calibri" pitchFamily="34" charset="-122"/>
                <a:cs typeface="Calibri" pitchFamily="34" charset="-120"/>
              </a:rPr>
              <a:t>Property prediction</a:t>
            </a:r>
            <a:endParaRPr lang="en-US" sz="1000" dirty="0"/>
          </a:p>
          <a:p>
            <a:pPr algn="ctr" indent="0" marL="0">
              <a:buNone/>
            </a:pPr>
            <a:r>
              <a:rPr lang="en-US" sz="1000" dirty="0">
                <a:solidFill>
                  <a:srgbClr val="1C1C1E"/>
                </a:solidFill>
                <a:latin typeface="Calibri" pitchFamily="34" charset="0"/>
                <a:ea typeface="Calibri" pitchFamily="34" charset="-122"/>
                <a:cs typeface="Calibri" pitchFamily="34" charset="-120"/>
              </a:rPr>
              <a:t>+ optimisation</a:t>
            </a:r>
            <a:endParaRPr lang="en-US" sz="1000" dirty="0"/>
          </a:p>
        </p:txBody>
      </p:sp>
      <p:sp>
        <p:nvSpPr>
          <p:cNvPr id="16" name="Text 14"/>
          <p:cNvSpPr txBox="1"/>
          <p:nvPr/>
        </p:nvSpPr>
        <p:spPr>
          <a:xfrm>
            <a:off x="5266944" y="2194560"/>
            <a:ext cx="128016" cy="292608"/>
          </a:xfrm>
          <a:prstGeom prst="rect">
            <a:avLst/>
          </a:prstGeom>
          <a:noFill/>
          <a:ln/>
        </p:spPr>
        <p:txBody>
          <a:bodyPr wrap="square" lIns="0" tIns="0" rIns="0" bIns="0" rtlCol="0" anchor="ctr"/>
          <a:lstStyle/>
          <a:p>
            <a:pPr indent="0" marL="0">
              <a:buNone/>
            </a:pPr>
            <a:r>
              <a:rPr lang="en-US" sz="1600" dirty="0">
                <a:solidFill>
                  <a:srgbClr val="B56A2A"/>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5394960" y="1691640"/>
            <a:ext cx="1554480" cy="1417320"/>
          </a:xfrm>
          <a:prstGeom prst="roundRect">
            <a:avLst>
              <a:gd name="adj" fmla="val 11613"/>
            </a:avLst>
          </a:prstGeom>
          <a:solidFill>
            <a:srgbClr val="F7F5F1"/>
          </a:solidFill>
          <a:ln w="6350">
            <a:solidFill>
              <a:srgbClr val="EAE5DE"/>
            </a:solidFill>
            <a:prstDash val="solid"/>
          </a:ln>
        </p:spPr>
      </p:sp>
      <p:sp>
        <p:nvSpPr>
          <p:cNvPr id="18" name="Text 16"/>
          <p:cNvSpPr txBox="1"/>
          <p:nvPr/>
        </p:nvSpPr>
        <p:spPr>
          <a:xfrm>
            <a:off x="5486400" y="1810512"/>
            <a:ext cx="1371600" cy="3657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Text 17"/>
          <p:cNvSpPr txBox="1"/>
          <p:nvPr/>
        </p:nvSpPr>
        <p:spPr>
          <a:xfrm>
            <a:off x="5486400" y="2231136"/>
            <a:ext cx="1371600" cy="822960"/>
          </a:xfrm>
          <a:prstGeom prst="rect">
            <a:avLst/>
          </a:prstGeom>
          <a:noFill/>
          <a:ln/>
        </p:spPr>
        <p:txBody>
          <a:bodyPr wrap="square" lIns="0" tIns="0" rIns="0" bIns="0" rtlCol="0" anchor="ctr"/>
          <a:lstStyle/>
          <a:p>
            <a:pPr algn="ctr" indent="0" marL="0">
              <a:buNone/>
            </a:pPr>
            <a:r>
              <a:rPr lang="en-US" sz="1000" dirty="0">
                <a:solidFill>
                  <a:srgbClr val="1C1C1E"/>
                </a:solidFill>
                <a:latin typeface="Calibri" pitchFamily="34" charset="0"/>
                <a:ea typeface="Calibri" pitchFamily="34" charset="-122"/>
                <a:cs typeface="Calibri" pitchFamily="34" charset="-120"/>
              </a:rPr>
              <a:t>New composition</a:t>
            </a:r>
            <a:endParaRPr lang="en-US" sz="1000" dirty="0"/>
          </a:p>
          <a:p>
            <a:pPr algn="ctr" indent="0" marL="0">
              <a:buNone/>
            </a:pPr>
            <a:r>
              <a:rPr lang="en-US" sz="1000" dirty="0">
                <a:solidFill>
                  <a:srgbClr val="1C1C1E"/>
                </a:solidFill>
                <a:latin typeface="Calibri" pitchFamily="34" charset="0"/>
                <a:ea typeface="Calibri" pitchFamily="34" charset="-122"/>
                <a:cs typeface="Calibri" pitchFamily="34" charset="-120"/>
              </a:rPr>
              <a:t>recommendation</a:t>
            </a:r>
            <a:endParaRPr lang="en-US" sz="1000" dirty="0"/>
          </a:p>
        </p:txBody>
      </p:sp>
      <p:sp>
        <p:nvSpPr>
          <p:cNvPr id="20" name="Text 18"/>
          <p:cNvSpPr txBox="1"/>
          <p:nvPr/>
        </p:nvSpPr>
        <p:spPr>
          <a:xfrm>
            <a:off x="6949440" y="2194560"/>
            <a:ext cx="128016" cy="292608"/>
          </a:xfrm>
          <a:prstGeom prst="rect">
            <a:avLst/>
          </a:prstGeom>
          <a:noFill/>
          <a:ln/>
        </p:spPr>
        <p:txBody>
          <a:bodyPr wrap="square" lIns="0" tIns="0" rIns="0" bIns="0" rtlCol="0" anchor="ctr"/>
          <a:lstStyle/>
          <a:p>
            <a:pPr indent="0" marL="0">
              <a:buNone/>
            </a:pPr>
            <a:r>
              <a:rPr lang="en-US" sz="1600" dirty="0">
                <a:solidFill>
                  <a:srgbClr val="B56A2A"/>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7077456" y="1691640"/>
            <a:ext cx="1554480" cy="1417320"/>
          </a:xfrm>
          <a:prstGeom prst="roundRect">
            <a:avLst>
              <a:gd name="adj" fmla="val 11613"/>
            </a:avLst>
          </a:prstGeom>
          <a:solidFill>
            <a:srgbClr val="F7F5F1"/>
          </a:solidFill>
          <a:ln w="6350">
            <a:solidFill>
              <a:srgbClr val="EAE5DE"/>
            </a:solidFill>
            <a:prstDash val="solid"/>
          </a:ln>
        </p:spPr>
      </p:sp>
      <p:sp>
        <p:nvSpPr>
          <p:cNvPr id="22" name="Text 20"/>
          <p:cNvSpPr txBox="1"/>
          <p:nvPr/>
        </p:nvSpPr>
        <p:spPr>
          <a:xfrm>
            <a:off x="7168896" y="1810512"/>
            <a:ext cx="1371600" cy="3657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Text 21"/>
          <p:cNvSpPr txBox="1"/>
          <p:nvPr/>
        </p:nvSpPr>
        <p:spPr>
          <a:xfrm>
            <a:off x="7168896" y="2231136"/>
            <a:ext cx="1371600" cy="822960"/>
          </a:xfrm>
          <a:prstGeom prst="rect">
            <a:avLst/>
          </a:prstGeom>
          <a:noFill/>
          <a:ln/>
        </p:spPr>
        <p:txBody>
          <a:bodyPr wrap="square" lIns="0" tIns="0" rIns="0" bIns="0" rtlCol="0" anchor="ctr"/>
          <a:lstStyle/>
          <a:p>
            <a:pPr algn="ctr" indent="0" marL="0">
              <a:buNone/>
            </a:pPr>
            <a:r>
              <a:rPr lang="en-US" sz="1000" dirty="0">
                <a:solidFill>
                  <a:srgbClr val="1C1C1E"/>
                </a:solidFill>
                <a:latin typeface="Calibri" pitchFamily="34" charset="0"/>
                <a:ea typeface="Calibri" pitchFamily="34" charset="-122"/>
                <a:cs typeface="Calibri" pitchFamily="34" charset="-120"/>
              </a:rPr>
              <a:t>New sample</a:t>
            </a:r>
            <a:endParaRPr lang="en-US" sz="1000" dirty="0"/>
          </a:p>
          <a:p>
            <a:pPr algn="ctr" indent="0" marL="0">
              <a:buNone/>
            </a:pPr>
            <a:r>
              <a:rPr lang="en-US" sz="1000" dirty="0">
                <a:solidFill>
                  <a:srgbClr val="1C1C1E"/>
                </a:solidFill>
                <a:latin typeface="Calibri" pitchFamily="34" charset="0"/>
                <a:ea typeface="Calibri" pitchFamily="34" charset="-122"/>
                <a:cs typeface="Calibri" pitchFamily="34" charset="-120"/>
              </a:rPr>
              <a:t>→ measurements</a:t>
            </a:r>
            <a:endParaRPr lang="en-US" sz="1000" dirty="0"/>
          </a:p>
        </p:txBody>
      </p:sp>
      <p:sp>
        <p:nvSpPr>
          <p:cNvPr id="24" name="Text 22"/>
          <p:cNvSpPr txBox="1"/>
          <p:nvPr/>
        </p:nvSpPr>
        <p:spPr>
          <a:xfrm>
            <a:off x="457200" y="3291840"/>
            <a:ext cx="8229600" cy="274320"/>
          </a:xfrm>
          <a:prstGeom prst="rect">
            <a:avLst/>
          </a:prstGeom>
          <a:noFill/>
          <a:ln/>
        </p:spPr>
        <p:txBody>
          <a:bodyPr wrap="square" lIns="0" tIns="0" rIns="0" bIns="0" rtlCol="0" anchor="ctr"/>
          <a:lstStyle/>
          <a:p>
            <a:pPr indent="0" marL="0">
              <a:buNone/>
            </a:pPr>
            <a:r>
              <a:rPr lang="en-US" sz="1400" b="1" dirty="0">
                <a:solidFill>
                  <a:srgbClr val="1C1C1E"/>
                </a:solidFill>
                <a:latin typeface="Calibri" pitchFamily="34" charset="0"/>
                <a:ea typeface="Calibri" pitchFamily="34" charset="-122"/>
                <a:cs typeface="Calibri" pitchFamily="34" charset="-120"/>
              </a:rPr>
              <a:t>What is already in the database</a:t>
            </a:r>
            <a:endParaRPr lang="en-US" sz="1400" dirty="0"/>
          </a:p>
        </p:txBody>
      </p:sp>
      <p:sp>
        <p:nvSpPr>
          <p:cNvPr id="25" name="Text 23"/>
          <p:cNvSpPr txBox="1"/>
          <p:nvPr/>
        </p:nvSpPr>
        <p:spPr>
          <a:xfrm>
            <a:off x="457200" y="3657600"/>
            <a:ext cx="2011680" cy="201168"/>
          </a:xfrm>
          <a:prstGeom prst="rect">
            <a:avLst/>
          </a:prstGeom>
          <a:noFill/>
          <a:ln/>
        </p:spPr>
        <p:txBody>
          <a:bodyPr wrap="square" lIns="0" tIns="0" rIns="0" bIns="0" rtlCol="0" anchor="ctr"/>
          <a:lstStyle/>
          <a:p>
            <a:pPr indent="0" marL="0">
              <a:buNone/>
            </a:pPr>
            <a:r>
              <a:rPr lang="en-US" sz="1050" b="1" dirty="0">
                <a:solidFill>
                  <a:srgbClr val="B56A2A"/>
                </a:solidFill>
                <a:latin typeface="Courier New" pitchFamily="34" charset="0"/>
                <a:ea typeface="Courier New" pitchFamily="34" charset="-122"/>
                <a:cs typeface="Courier New" pitchFamily="34" charset="-120"/>
              </a:rPr>
              <a:t>compositions</a:t>
            </a:r>
            <a:endParaRPr lang="en-US" sz="1050" dirty="0"/>
          </a:p>
        </p:txBody>
      </p:sp>
      <p:sp>
        <p:nvSpPr>
          <p:cNvPr id="26" name="Text 24"/>
          <p:cNvSpPr txBox="1"/>
          <p:nvPr/>
        </p:nvSpPr>
        <p:spPr>
          <a:xfrm>
            <a:off x="2560320" y="3657600"/>
            <a:ext cx="6126480" cy="201168"/>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Element fractions wt% + at% · aimed / measured / reference</a:t>
            </a:r>
            <a:endParaRPr lang="en-US" sz="1050" dirty="0"/>
          </a:p>
        </p:txBody>
      </p:sp>
      <p:sp>
        <p:nvSpPr>
          <p:cNvPr id="27" name="Text 25"/>
          <p:cNvSpPr txBox="1"/>
          <p:nvPr/>
        </p:nvSpPr>
        <p:spPr>
          <a:xfrm>
            <a:off x="457200" y="3877056"/>
            <a:ext cx="2011680" cy="201168"/>
          </a:xfrm>
          <a:prstGeom prst="rect">
            <a:avLst/>
          </a:prstGeom>
          <a:noFill/>
          <a:ln/>
        </p:spPr>
        <p:txBody>
          <a:bodyPr wrap="square" lIns="0" tIns="0" rIns="0" bIns="0" rtlCol="0" anchor="ctr"/>
          <a:lstStyle/>
          <a:p>
            <a:pPr indent="0" marL="0">
              <a:buNone/>
            </a:pPr>
            <a:r>
              <a:rPr lang="en-US" sz="1050" b="1" dirty="0">
                <a:solidFill>
                  <a:srgbClr val="B56A2A"/>
                </a:solidFill>
                <a:latin typeface="Courier New" pitchFamily="34" charset="0"/>
                <a:ea typeface="Courier New" pitchFamily="34" charset="-122"/>
                <a:cs typeface="Courier New" pitchFamily="34" charset="-120"/>
              </a:rPr>
              <a:t>xrd_features</a:t>
            </a:r>
            <a:endParaRPr lang="en-US" sz="1050" dirty="0"/>
          </a:p>
        </p:txBody>
      </p:sp>
      <p:sp>
        <p:nvSpPr>
          <p:cNvPr id="28" name="Text 26"/>
          <p:cNvSpPr txBox="1"/>
          <p:nvPr/>
        </p:nvSpPr>
        <p:spPr>
          <a:xfrm>
            <a:off x="2560320" y="3877056"/>
            <a:ext cx="6126480" cy="201168"/>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n_peaks · mean R² · crystallite size · d-spacing (ML-ready)</a:t>
            </a:r>
            <a:endParaRPr lang="en-US" sz="1050" dirty="0"/>
          </a:p>
        </p:txBody>
      </p:sp>
      <p:sp>
        <p:nvSpPr>
          <p:cNvPr id="29" name="Text 27"/>
          <p:cNvSpPr txBox="1"/>
          <p:nvPr/>
        </p:nvSpPr>
        <p:spPr>
          <a:xfrm>
            <a:off x="457200" y="4096512"/>
            <a:ext cx="2011680" cy="201168"/>
          </a:xfrm>
          <a:prstGeom prst="rect">
            <a:avLst/>
          </a:prstGeom>
          <a:noFill/>
          <a:ln/>
        </p:spPr>
        <p:txBody>
          <a:bodyPr wrap="square" lIns="0" tIns="0" rIns="0" bIns="0" rtlCol="0" anchor="ctr"/>
          <a:lstStyle/>
          <a:p>
            <a:pPr indent="0" marL="0">
              <a:buNone/>
            </a:pPr>
            <a:r>
              <a:rPr lang="en-US" sz="1050" b="1" dirty="0">
                <a:solidFill>
                  <a:srgbClr val="B56A2A"/>
                </a:solidFill>
                <a:latin typeface="Courier New" pitchFamily="34" charset="0"/>
                <a:ea typeface="Courier New" pitchFamily="34" charset="-122"/>
                <a:cs typeface="Courier New" pitchFamily="34" charset="-120"/>
              </a:rPr>
              <a:t>vsm_mh_details</a:t>
            </a:r>
            <a:endParaRPr lang="en-US" sz="1050" dirty="0"/>
          </a:p>
        </p:txBody>
      </p:sp>
      <p:sp>
        <p:nvSpPr>
          <p:cNvPr id="30" name="Text 28"/>
          <p:cNvSpPr txBox="1"/>
          <p:nvPr/>
        </p:nvSpPr>
        <p:spPr>
          <a:xfrm>
            <a:off x="2560320" y="4096512"/>
            <a:ext cx="6126480" cy="201168"/>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Hc · Mr · BHmax per segment · quality flags</a:t>
            </a:r>
            <a:endParaRPr lang="en-US" sz="1050" dirty="0"/>
          </a:p>
        </p:txBody>
      </p:sp>
      <p:sp>
        <p:nvSpPr>
          <p:cNvPr id="31" name="Text 29"/>
          <p:cNvSpPr txBox="1"/>
          <p:nvPr/>
        </p:nvSpPr>
        <p:spPr>
          <a:xfrm>
            <a:off x="457200" y="4315968"/>
            <a:ext cx="2011680" cy="201168"/>
          </a:xfrm>
          <a:prstGeom prst="rect">
            <a:avLst/>
          </a:prstGeom>
          <a:noFill/>
          <a:ln/>
        </p:spPr>
        <p:txBody>
          <a:bodyPr wrap="square" lIns="0" tIns="0" rIns="0" bIns="0" rtlCol="0" anchor="ctr"/>
          <a:lstStyle/>
          <a:p>
            <a:pPr indent="0" marL="0">
              <a:buNone/>
            </a:pPr>
            <a:r>
              <a:rPr lang="en-US" sz="1050" b="1" dirty="0">
                <a:solidFill>
                  <a:srgbClr val="B56A2A"/>
                </a:solidFill>
                <a:latin typeface="Courier New" pitchFamily="34" charset="0"/>
                <a:ea typeface="Courier New" pitchFamily="34" charset="-122"/>
                <a:cs typeface="Courier New" pitchFamily="34" charset="-120"/>
              </a:rPr>
              <a:t>vsm_temp_coeff</a:t>
            </a:r>
            <a:endParaRPr lang="en-US" sz="1050" dirty="0"/>
          </a:p>
        </p:txBody>
      </p:sp>
      <p:sp>
        <p:nvSpPr>
          <p:cNvPr id="32" name="Text 30"/>
          <p:cNvSpPr txBox="1"/>
          <p:nvPr/>
        </p:nvSpPr>
        <p:spPr>
          <a:xfrm>
            <a:off x="2560320" y="4315968"/>
            <a:ext cx="6126480" cy="201168"/>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α(Hc) · β(Mr) — temperature stability coefficients</a:t>
            </a:r>
            <a:endParaRPr lang="en-US" sz="1050" dirty="0"/>
          </a:p>
        </p:txBody>
      </p:sp>
      <p:sp>
        <p:nvSpPr>
          <p:cNvPr id="33" name="Text 31"/>
          <p:cNvSpPr txBox="1"/>
          <p:nvPr/>
        </p:nvSpPr>
        <p:spPr>
          <a:xfrm>
            <a:off x="457200" y="4535424"/>
            <a:ext cx="2011680" cy="201168"/>
          </a:xfrm>
          <a:prstGeom prst="rect">
            <a:avLst/>
          </a:prstGeom>
          <a:noFill/>
          <a:ln/>
        </p:spPr>
        <p:txBody>
          <a:bodyPr wrap="square" lIns="0" tIns="0" rIns="0" bIns="0" rtlCol="0" anchor="ctr"/>
          <a:lstStyle/>
          <a:p>
            <a:pPr indent="0" marL="0">
              <a:buNone/>
            </a:pPr>
            <a:r>
              <a:rPr lang="en-US" sz="1050" b="1" dirty="0">
                <a:solidFill>
                  <a:srgbClr val="B56A2A"/>
                </a:solidFill>
                <a:latin typeface="Courier New" pitchFamily="34" charset="0"/>
                <a:ea typeface="Courier New" pitchFamily="34" charset="-122"/>
                <a:cs typeface="Courier New" pitchFamily="34" charset="-120"/>
              </a:rPr>
              <a:t>properties</a:t>
            </a:r>
            <a:endParaRPr lang="en-US" sz="1050" dirty="0"/>
          </a:p>
        </p:txBody>
      </p:sp>
      <p:sp>
        <p:nvSpPr>
          <p:cNvPr id="34" name="Text 32"/>
          <p:cNvSpPr txBox="1"/>
          <p:nvPr/>
        </p:nvSpPr>
        <p:spPr>
          <a:xfrm>
            <a:off x="2560320" y="4535424"/>
            <a:ext cx="6126480" cy="201168"/>
          </a:xfrm>
          <a:prstGeom prst="rect">
            <a:avLst/>
          </a:prstGeom>
          <a:noFill/>
          <a:ln/>
        </p:spPr>
        <p:txBody>
          <a:bodyPr wrap="square" lIns="0" tIns="0" rIns="0" bIns="0" rtlCol="0" anchor="ctr"/>
          <a:lstStyle/>
          <a:p>
            <a:pPr indent="0" marL="0">
              <a:buNone/>
            </a:pPr>
            <a:r>
              <a:rPr lang="en-US" sz="1050" dirty="0">
                <a:solidFill>
                  <a:srgbClr val="4A4A4E"/>
                </a:solidFill>
                <a:latin typeface="Calibri" pitchFamily="34" charset="0"/>
                <a:ea typeface="Calibri" pitchFamily="34" charset="-122"/>
                <a:cs typeface="Calibri" pitchFamily="34" charset="-120"/>
              </a:rPr>
              <a:t>→  SEM phase fraction · pixel calibration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1E20"/>
        </a:solidFill>
      </p:bgPr>
    </p:bg>
    <p:spTree>
      <p:nvGrpSpPr>
        <p:cNvPr id="1" name=""/>
        <p:cNvGrpSpPr/>
        <p:nvPr/>
      </p:nvGrpSpPr>
      <p:grpSpPr>
        <a:xfrm>
          <a:off x="0" y="0"/>
          <a:ext cx="0" cy="0"/>
          <a:chOff x="0" y="0"/>
          <a:chExt cx="0" cy="0"/>
        </a:xfrm>
      </p:grpSpPr>
      <p:sp>
        <p:nvSpPr>
          <p:cNvPr id="2" name="Text 0"/>
          <p:cNvSpPr txBox="1"/>
          <p:nvPr/>
        </p:nvSpPr>
        <p:spPr>
          <a:xfrm>
            <a:off x="457200" y="411480"/>
            <a:ext cx="8229600" cy="201168"/>
          </a:xfrm>
          <a:prstGeom prst="rect">
            <a:avLst/>
          </a:prstGeom>
          <a:noFill/>
          <a:ln/>
        </p:spPr>
        <p:txBody>
          <a:bodyPr wrap="square" lIns="0" tIns="0" rIns="0" bIns="0" rtlCol="0" anchor="ctr"/>
          <a:lstStyle/>
          <a:p>
            <a:pPr indent="0" marL="0">
              <a:buNone/>
            </a:pPr>
            <a:r>
              <a:rPr lang="en-US" sz="800" b="1" spc="300" kern="0" dirty="0">
                <a:solidFill>
                  <a:srgbClr val="B56A2A"/>
                </a:solidFill>
                <a:latin typeface="Calibri" pitchFamily="34" charset="0"/>
                <a:ea typeface="Calibri" pitchFamily="34" charset="-122"/>
                <a:cs typeface="Calibri" pitchFamily="34" charset="-120"/>
              </a:rPr>
              <a:t>STAGE 2 · COMPLETE</a:t>
            </a:r>
            <a:endParaRPr lang="en-US" sz="800" dirty="0"/>
          </a:p>
        </p:txBody>
      </p:sp>
      <p:sp>
        <p:nvSpPr>
          <p:cNvPr id="3" name="Text 1"/>
          <p:cNvSpPr txBox="1"/>
          <p:nvPr/>
        </p:nvSpPr>
        <p:spPr>
          <a:xfrm>
            <a:off x="457200" y="685800"/>
            <a:ext cx="8229600" cy="100584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The hard, instrument-specific work is done.</a:t>
            </a:r>
            <a:endParaRPr lang="en-US" sz="3000" dirty="0"/>
          </a:p>
          <a:p>
            <a:pPr indent="0" marL="0">
              <a:buNone/>
            </a:pPr>
            <a:r>
              <a:rPr lang="en-US" sz="3000" b="1" dirty="0">
                <a:solidFill>
                  <a:srgbClr val="FFFFFF"/>
                </a:solidFill>
                <a:latin typeface="Georgia" pitchFamily="34" charset="0"/>
                <a:ea typeface="Georgia" pitchFamily="34" charset="-122"/>
                <a:cs typeface="Georgia" pitchFamily="34" charset="-120"/>
              </a:rPr>
              <a:t>What remains is science.</a:t>
            </a:r>
            <a:endParaRPr lang="en-US" sz="3000" dirty="0"/>
          </a:p>
        </p:txBody>
      </p:sp>
      <p:sp>
        <p:nvSpPr>
          <p:cNvPr id="4" name="Shape 2"/>
          <p:cNvSpPr/>
          <p:nvPr/>
        </p:nvSpPr>
        <p:spPr>
          <a:xfrm>
            <a:off x="457200" y="1828800"/>
            <a:ext cx="8229600" cy="0"/>
          </a:xfrm>
          <a:prstGeom prst="line">
            <a:avLst/>
          </a:prstGeom>
          <a:noFill/>
          <a:ln w="12700">
            <a:solidFill>
              <a:srgbClr val="3D3D3D"/>
            </a:solidFill>
            <a:prstDash val="solid"/>
          </a:ln>
        </p:spPr>
      </p:sp>
      <p:sp>
        <p:nvSpPr>
          <p:cNvPr id="5" name="Text 3"/>
          <p:cNvSpPr txBox="1"/>
          <p:nvPr/>
        </p:nvSpPr>
        <p:spPr>
          <a:xfrm>
            <a:off x="457200" y="1993392"/>
            <a:ext cx="41148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XRD pipeline — NIST validated</a:t>
            </a:r>
            <a:endParaRPr lang="en-US" sz="1200" dirty="0"/>
          </a:p>
        </p:txBody>
      </p:sp>
      <p:sp>
        <p:nvSpPr>
          <p:cNvPr id="6" name="Text 4"/>
          <p:cNvSpPr txBox="1"/>
          <p:nvPr/>
        </p:nvSpPr>
        <p:spPr>
          <a:xfrm>
            <a:off x="457200" y="2377440"/>
            <a:ext cx="41148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VSM pipeline — 3 instrument types</a:t>
            </a:r>
            <a:endParaRPr lang="en-US" sz="1200" dirty="0"/>
          </a:p>
        </p:txBody>
      </p:sp>
      <p:sp>
        <p:nvSpPr>
          <p:cNvPr id="7" name="Text 5"/>
          <p:cNvSpPr txBox="1"/>
          <p:nvPr/>
        </p:nvSpPr>
        <p:spPr>
          <a:xfrm>
            <a:off x="457200" y="2761488"/>
            <a:ext cx="41148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SEM pipeline — Zeiss / JEOL / Tescan</a:t>
            </a:r>
            <a:endParaRPr lang="en-US" sz="1200" dirty="0"/>
          </a:p>
        </p:txBody>
      </p:sp>
      <p:sp>
        <p:nvSpPr>
          <p:cNvPr id="8" name="Text 6"/>
          <p:cNvSpPr txBox="1"/>
          <p:nvPr/>
        </p:nvSpPr>
        <p:spPr>
          <a:xfrm>
            <a:off x="457200" y="3145536"/>
            <a:ext cx="41148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Interactive tools with Save to DB</a:t>
            </a:r>
            <a:endParaRPr lang="en-US" sz="1200" dirty="0"/>
          </a:p>
        </p:txBody>
      </p:sp>
      <p:sp>
        <p:nvSpPr>
          <p:cNvPr id="9" name="Text 7"/>
          <p:cNvSpPr txBox="1"/>
          <p:nvPr/>
        </p:nvSpPr>
        <p:spPr>
          <a:xfrm>
            <a:off x="457200" y="3529584"/>
            <a:ext cx="41148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16-table ML-ready schema</a:t>
            </a:r>
            <a:endParaRPr lang="en-US" sz="1200" dirty="0"/>
          </a:p>
        </p:txBody>
      </p:sp>
      <p:sp>
        <p:nvSpPr>
          <p:cNvPr id="10" name="Text 8"/>
          <p:cNvSpPr txBox="1"/>
          <p:nvPr/>
        </p:nvSpPr>
        <p:spPr>
          <a:xfrm>
            <a:off x="4663440" y="1993392"/>
            <a:ext cx="402336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Element-fraction auto-wiring</a:t>
            </a:r>
            <a:endParaRPr lang="en-US" sz="1200" dirty="0"/>
          </a:p>
        </p:txBody>
      </p:sp>
      <p:sp>
        <p:nvSpPr>
          <p:cNvPr id="11" name="Text 9"/>
          <p:cNvSpPr txBox="1"/>
          <p:nvPr/>
        </p:nvSpPr>
        <p:spPr>
          <a:xfrm>
            <a:off x="4663440" y="2377440"/>
            <a:ext cx="402336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Synthesis route auto-save</a:t>
            </a:r>
            <a:endParaRPr lang="en-US" sz="1200" dirty="0"/>
          </a:p>
        </p:txBody>
      </p:sp>
      <p:sp>
        <p:nvSpPr>
          <p:cNvPr id="12" name="Text 10"/>
          <p:cNvSpPr txBox="1"/>
          <p:nvPr/>
        </p:nvSpPr>
        <p:spPr>
          <a:xfrm>
            <a:off x="4663440" y="2761488"/>
            <a:ext cx="402336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Database on home server</a:t>
            </a:r>
            <a:endParaRPr lang="en-US" sz="1200" dirty="0"/>
          </a:p>
        </p:txBody>
      </p:sp>
      <p:sp>
        <p:nvSpPr>
          <p:cNvPr id="13" name="Text 11"/>
          <p:cNvSpPr txBox="1"/>
          <p:nvPr/>
        </p:nvSpPr>
        <p:spPr>
          <a:xfrm>
            <a:off x="4663440" y="3145536"/>
            <a:ext cx="402336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Three machines connected</a:t>
            </a:r>
            <a:endParaRPr lang="en-US" sz="1200" dirty="0"/>
          </a:p>
        </p:txBody>
      </p:sp>
      <p:sp>
        <p:nvSpPr>
          <p:cNvPr id="14" name="Text 12"/>
          <p:cNvSpPr txBox="1"/>
          <p:nvPr/>
        </p:nvSpPr>
        <p:spPr>
          <a:xfrm>
            <a:off x="4663440" y="3529584"/>
            <a:ext cx="402336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path_repair.py — clean migration</a:t>
            </a:r>
            <a:endParaRPr lang="en-US" sz="1200" dirty="0"/>
          </a:p>
        </p:txBody>
      </p:sp>
      <p:sp>
        <p:nvSpPr>
          <p:cNvPr id="15" name="Shape 13"/>
          <p:cNvSpPr/>
          <p:nvPr/>
        </p:nvSpPr>
        <p:spPr>
          <a:xfrm>
            <a:off x="457200" y="4005072"/>
            <a:ext cx="8229600" cy="0"/>
          </a:xfrm>
          <a:prstGeom prst="line">
            <a:avLst/>
          </a:prstGeom>
          <a:noFill/>
          <a:ln w="12700">
            <a:solidFill>
              <a:srgbClr val="3D3D3D"/>
            </a:solidFill>
            <a:prstDash val="solid"/>
          </a:ln>
        </p:spPr>
      </p:sp>
      <p:sp>
        <p:nvSpPr>
          <p:cNvPr id="16" name="Text 14"/>
          <p:cNvSpPr txBox="1"/>
          <p:nvPr/>
        </p:nvSpPr>
        <p:spPr>
          <a:xfrm>
            <a:off x="457200" y="4114800"/>
            <a:ext cx="6858000" cy="457200"/>
          </a:xfrm>
          <a:prstGeom prst="rect">
            <a:avLst/>
          </a:prstGeom>
          <a:noFill/>
          <a:ln/>
        </p:spPr>
        <p:txBody>
          <a:bodyPr wrap="square" lIns="0" tIns="0" rIns="0" bIns="0" rtlCol="0" anchor="ctr"/>
          <a:lstStyle/>
          <a:p>
            <a:pPr indent="0" marL="0">
              <a:buNone/>
            </a:pPr>
            <a:r>
              <a:rPr lang="en-US" sz="1300" i="1" dirty="0">
                <a:solidFill>
                  <a:srgbClr val="AAAAAA"/>
                </a:solidFill>
                <a:latin typeface="Georgia" pitchFamily="34" charset="0"/>
                <a:ea typeface="Georgia" pitchFamily="34" charset="-122"/>
                <a:cs typeface="Georgia" pitchFamily="34" charset="-120"/>
              </a:rPr>
              <a:t>What started as a way to stop losing track of lab notebooks is turning into a research platform.</a:t>
            </a:r>
            <a:endParaRPr lang="en-US" sz="1300" dirty="0"/>
          </a:p>
        </p:txBody>
      </p:sp>
      <p:sp>
        <p:nvSpPr>
          <p:cNvPr id="17" name="Text 15"/>
          <p:cNvSpPr txBox="1"/>
          <p:nvPr/>
        </p:nvSpPr>
        <p:spPr>
          <a:xfrm>
            <a:off x="457200" y="4663440"/>
            <a:ext cx="8229600" cy="228600"/>
          </a:xfrm>
          <a:prstGeom prst="rect">
            <a:avLst/>
          </a:prstGeom>
          <a:noFill/>
          <a:ln/>
        </p:spPr>
        <p:txBody>
          <a:bodyPr wrap="square" lIns="0" tIns="0" rIns="0" bIns="0" rtlCol="0" anchor="ctr"/>
          <a:lstStyle/>
          <a:p>
            <a:pPr algn="r" indent="0" marL="0">
              <a:buNone/>
            </a:pPr>
            <a:r>
              <a:rPr lang="en-US" sz="1000" dirty="0">
                <a:solidFill>
                  <a:srgbClr val="D78C4A"/>
                </a:solidFill>
                <a:latin typeface="Calibri" pitchFamily="34" charset="0"/>
                <a:ea typeface="Calibri" pitchFamily="34" charset="-122"/>
                <a:cs typeface="Calibri" pitchFamily="34" charset="-120"/>
              </a:rPr>
              <a:t>github.com/iliya-radulov/my_db_project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2026-09-06T15:19:09Z</dcterms:created>
  <dcterms:modified xsi:type="dcterms:W3CDTF">2026-09-06T15:19:09Z</dcterms:modified>
</cp:coreProperties>
</file>